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 (USD)</c:v>
                </c:pt>
              </c:strCache>
            </c:strRef>
          </c:tx>
          <c:spPr>
            <a:solidFill>
              <a:srgbClr val="F96167"/>
            </a:solidFill>
            <a:effectLst/>
          </c:spPr>
          <c:invertIfNegative val="0"/>
          <c:dLbls>
            <c:numFmt formatCode="\$#,##0" sourceLinked="0"/>
            <c:spPr>
              <a:noFill/>
              <a:ln>
                <a:noFill/>
              </a:ln>
              <a:effectLst/>
            </c:spPr>
            <c:txPr>
              <a:bodyPr/>
              <a:lstStyle/>
              <a:p>
                <a:pPr>
                  <a:defRPr sz="1100" b="1" i="0" u="none" strike="noStrike">
                    <a:solidFill>
                      <a:srgbClr val="2325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Female</c:v>
                </c:pt>
                <c:pt idx="1">
                  <c:v>Male</c:v>
                </c:pt>
              </c:strCache>
            </c:strRef>
          </c:cat>
          <c:val>
            <c:numRef>
              <c:f>Sheet1!$B$2:$B$3</c:f>
              <c:numCache>
                <c:formatCode>General</c:formatCode>
                <c:ptCount val="2"/>
                <c:pt idx="0">
                  <c:v>75191</c:v>
                </c:pt>
                <c:pt idx="1">
                  <c:v>157890</c:v>
                </c:pt>
              </c:numCache>
            </c:numRef>
          </c:val>
          <c:extLst>
            <c:ext xmlns:c16="http://schemas.microsoft.com/office/drawing/2014/chart" uri="{C3380CC4-5D6E-409C-BE32-E72D297353CC}">
              <c16:uniqueId val="{00000000-86D5-4B24-A3DA-BA8D1338A3EB}"/>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3253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Customers</c:v>
                </c:pt>
              </c:strCache>
            </c:strRef>
          </c:tx>
          <c:spPr>
            <a:solidFill>
              <a:srgbClr val="2F3C7E"/>
            </a:solidFill>
            <a:effectLst/>
          </c:spPr>
          <c:invertIfNegative val="0"/>
          <c:dLbls>
            <c:numFmt formatCode="#,##0" sourceLinked="0"/>
            <c:spPr>
              <a:noFill/>
              <a:ln>
                <a:noFill/>
              </a:ln>
              <a:effectLst/>
            </c:spPr>
            <c:txPr>
              <a:bodyPr/>
              <a:lstStyle/>
              <a:p>
                <a:pPr>
                  <a:defRPr sz="1100" b="1" i="0" u="none" strike="noStrike">
                    <a:solidFill>
                      <a:srgbClr val="2325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Loyal</c:v>
                </c:pt>
                <c:pt idx="1">
                  <c:v>Returning</c:v>
                </c:pt>
                <c:pt idx="2">
                  <c:v>New</c:v>
                </c:pt>
              </c:strCache>
            </c:strRef>
          </c:cat>
          <c:val>
            <c:numRef>
              <c:f>Sheet1!$B$2:$B$4</c:f>
              <c:numCache>
                <c:formatCode>General</c:formatCode>
                <c:ptCount val="3"/>
                <c:pt idx="0">
                  <c:v>3116</c:v>
                </c:pt>
                <c:pt idx="1">
                  <c:v>701</c:v>
                </c:pt>
                <c:pt idx="2">
                  <c:v>83</c:v>
                </c:pt>
              </c:numCache>
            </c:numRef>
          </c:val>
          <c:extLst>
            <c:ext xmlns:c16="http://schemas.microsoft.com/office/drawing/2014/chart" uri="{C3380CC4-5D6E-409C-BE32-E72D297353CC}">
              <c16:uniqueId val="{00000000-F86B-40B8-AB25-A4336EBE99EA}"/>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253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Repeat buyers</c:v>
                </c:pt>
              </c:strCache>
            </c:strRef>
          </c:tx>
          <c:spPr>
            <a:solidFill>
              <a:srgbClr val="F96167"/>
            </a:solidFill>
            <a:effectLst/>
          </c:spPr>
          <c:invertIfNegative val="0"/>
          <c:dLbls>
            <c:numFmt formatCode="#,##0" sourceLinked="0"/>
            <c:spPr>
              <a:noFill/>
              <a:ln>
                <a:noFill/>
              </a:ln>
              <a:effectLst/>
            </c:spPr>
            <c:txPr>
              <a:bodyPr/>
              <a:lstStyle/>
              <a:p>
                <a:pPr>
                  <a:defRPr sz="1100" b="1" i="0" u="none" strike="noStrike">
                    <a:solidFill>
                      <a:srgbClr val="2325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Not subscribed</c:v>
                </c:pt>
                <c:pt idx="1">
                  <c:v>Subscribed</c:v>
                </c:pt>
              </c:strCache>
            </c:strRef>
          </c:cat>
          <c:val>
            <c:numRef>
              <c:f>Sheet1!$B$2:$B$3</c:f>
              <c:numCache>
                <c:formatCode>General</c:formatCode>
                <c:ptCount val="2"/>
                <c:pt idx="0">
                  <c:v>2518</c:v>
                </c:pt>
                <c:pt idx="1">
                  <c:v>958</c:v>
                </c:pt>
              </c:numCache>
            </c:numRef>
          </c:val>
          <c:extLst>
            <c:ext xmlns:c16="http://schemas.microsoft.com/office/drawing/2014/chart" uri="{C3380CC4-5D6E-409C-BE32-E72D297353CC}">
              <c16:uniqueId val="{00000000-F667-47E6-8C46-7501EF83B8AD}"/>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23253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DF8E4"/>
        </a:solidFill>
        <a:ln>
          <a:noFill/>
        </a:ln>
        <a:effectLst/>
      </c:spPr>
    </c:plotArea>
    <c:plotVisOnly val="1"/>
    <c:dispBlanksAs val="span"/>
    <c:showDLblsOverMax val="1"/>
  </c:chart>
  <c:spPr>
    <a:solidFill>
      <a:srgbClr val="FDF8E4"/>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Discount rate</c:v>
                </c:pt>
              </c:strCache>
            </c:strRef>
          </c:tx>
          <c:spPr>
            <a:solidFill>
              <a:srgbClr val="F96167"/>
            </a:solidFill>
            <a:effectLst/>
          </c:spPr>
          <c:invertIfNegative val="0"/>
          <c:dLbls>
            <c:numFmt formatCode="0.0&quot;%&quot;" sourceLinked="0"/>
            <c:spPr>
              <a:noFill/>
              <a:ln>
                <a:noFill/>
              </a:ln>
              <a:effectLst/>
            </c:spPr>
            <c:txPr>
              <a:bodyPr/>
              <a:lstStyle/>
              <a:p>
                <a:pPr>
                  <a:defRPr sz="1050" b="1" i="0" u="none" strike="noStrike">
                    <a:solidFill>
                      <a:srgbClr val="2325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Hat</c:v>
                </c:pt>
                <c:pt idx="1">
                  <c:v>Sneakers</c:v>
                </c:pt>
                <c:pt idx="2">
                  <c:v>Coat</c:v>
                </c:pt>
                <c:pt idx="3">
                  <c:v>Sweater</c:v>
                </c:pt>
                <c:pt idx="4">
                  <c:v>Pants</c:v>
                </c:pt>
              </c:strCache>
            </c:strRef>
          </c:cat>
          <c:val>
            <c:numRef>
              <c:f>Sheet1!$B$2:$B$6</c:f>
              <c:numCache>
                <c:formatCode>General</c:formatCode>
                <c:ptCount val="5"/>
                <c:pt idx="0">
                  <c:v>50</c:v>
                </c:pt>
                <c:pt idx="1">
                  <c:v>49.66</c:v>
                </c:pt>
                <c:pt idx="2">
                  <c:v>49.07</c:v>
                </c:pt>
                <c:pt idx="3">
                  <c:v>48.17</c:v>
                </c:pt>
                <c:pt idx="4">
                  <c:v>47.37</c:v>
                </c:pt>
              </c:numCache>
            </c:numRef>
          </c:val>
          <c:extLst>
            <c:ext xmlns:c16="http://schemas.microsoft.com/office/drawing/2014/chart" uri="{C3380CC4-5D6E-409C-BE32-E72D297353CC}">
              <c16:uniqueId val="{00000000-DE2A-4409-85A2-87302AD5892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23253B"/>
                </a:solidFill>
                <a:latin typeface="Arial"/>
              </a:defRPr>
            </a:pPr>
            <a:endParaRPr lang="en-US"/>
          </a:p>
        </c:txPr>
        <c:crossAx val="2094734552"/>
        <c:crosses val="autoZero"/>
        <c:auto val="1"/>
        <c:lblAlgn val="ctr"/>
        <c:lblOffset val="100"/>
        <c:noMultiLvlLbl val="1"/>
      </c:catAx>
      <c:valAx>
        <c:axId val="2094734552"/>
        <c:scaling>
          <c:orientation val="minMax"/>
          <c:max val="58"/>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purchase (USD)</c:v>
                </c:pt>
              </c:strCache>
            </c:strRef>
          </c:tx>
          <c:spPr>
            <a:solidFill>
              <a:srgbClr val="2F3C7E"/>
            </a:solidFill>
            <a:effectLst/>
          </c:spPr>
          <c:invertIfNegative val="0"/>
          <c:dLbls>
            <c:numFmt formatCode="\$0.00" sourceLinked="0"/>
            <c:spPr>
              <a:noFill/>
              <a:ln>
                <a:noFill/>
              </a:ln>
              <a:effectLst/>
            </c:spPr>
            <c:txPr>
              <a:bodyPr/>
              <a:lstStyle/>
              <a:p>
                <a:pPr>
                  <a:defRPr sz="1200" b="1" i="0" u="none" strike="noStrike">
                    <a:solidFill>
                      <a:srgbClr val="2325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Standard</c:v>
                </c:pt>
                <c:pt idx="1">
                  <c:v>Express</c:v>
                </c:pt>
              </c:strCache>
            </c:strRef>
          </c:cat>
          <c:val>
            <c:numRef>
              <c:f>Sheet1!$B$2:$B$3</c:f>
              <c:numCache>
                <c:formatCode>General</c:formatCode>
                <c:ptCount val="2"/>
                <c:pt idx="0">
                  <c:v>58.46</c:v>
                </c:pt>
                <c:pt idx="1">
                  <c:v>60.48</c:v>
                </c:pt>
              </c:numCache>
            </c:numRef>
          </c:val>
          <c:extLst>
            <c:ext xmlns:c16="http://schemas.microsoft.com/office/drawing/2014/chart" uri="{C3380CC4-5D6E-409C-BE32-E72D297353CC}">
              <c16:uniqueId val="{00000000-BF7A-4B98-94CE-39E2E00F758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23253B"/>
                </a:solidFill>
                <a:latin typeface="Arial"/>
              </a:defRPr>
            </a:pPr>
            <a:endParaRPr lang="en-US"/>
          </a:p>
        </c:txPr>
        <c:crossAx val="2094734552"/>
        <c:crosses val="autoZero"/>
        <c:auto val="1"/>
        <c:lblAlgn val="ctr"/>
        <c:lblOffset val="100"/>
        <c:noMultiLvlLbl val="1"/>
      </c:catAx>
      <c:valAx>
        <c:axId val="2094734552"/>
        <c:scaling>
          <c:orientation val="minMax"/>
          <c:min val="5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 (USD)</c:v>
                </c:pt>
              </c:strCache>
            </c:strRef>
          </c:tx>
          <c:spPr>
            <a:solidFill>
              <a:srgbClr val="F96167"/>
            </a:solidFill>
            <a:effectLst/>
          </c:spPr>
          <c:invertIfNegative val="0"/>
          <c:dLbls>
            <c:numFmt formatCode="\$#,##0" sourceLinked="0"/>
            <c:spPr>
              <a:noFill/>
              <a:ln>
                <a:noFill/>
              </a:ln>
              <a:effectLst/>
            </c:spPr>
            <c:txPr>
              <a:bodyPr/>
              <a:lstStyle/>
              <a:p>
                <a:pPr>
                  <a:defRPr sz="1100" b="1" i="0" u="none" strike="noStrike">
                    <a:solidFill>
                      <a:srgbClr val="2325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Young Adult</c:v>
                </c:pt>
                <c:pt idx="1">
                  <c:v>Middle-aged</c:v>
                </c:pt>
                <c:pt idx="2">
                  <c:v>Adult</c:v>
                </c:pt>
                <c:pt idx="3">
                  <c:v>Senior</c:v>
                </c:pt>
              </c:strCache>
            </c:strRef>
          </c:cat>
          <c:val>
            <c:numRef>
              <c:f>Sheet1!$B$2:$B$5</c:f>
              <c:numCache>
                <c:formatCode>General</c:formatCode>
                <c:ptCount val="4"/>
                <c:pt idx="0">
                  <c:v>62143</c:v>
                </c:pt>
                <c:pt idx="1">
                  <c:v>59197</c:v>
                </c:pt>
                <c:pt idx="2">
                  <c:v>55978</c:v>
                </c:pt>
                <c:pt idx="3">
                  <c:v>55763</c:v>
                </c:pt>
              </c:numCache>
            </c:numRef>
          </c:val>
          <c:extLst>
            <c:ext xmlns:c16="http://schemas.microsoft.com/office/drawing/2014/chart" uri="{C3380CC4-5D6E-409C-BE32-E72D297353CC}">
              <c16:uniqueId val="{00000000-BF94-4BED-8B3D-F9ED4E34010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3253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909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C7E"/>
        </a:solidFill>
        <a:effectLst/>
      </p:bgPr>
    </p:bg>
    <p:spTree>
      <p:nvGrpSpPr>
        <p:cNvPr id="1" name=""/>
        <p:cNvGrpSpPr/>
        <p:nvPr/>
      </p:nvGrpSpPr>
      <p:grpSpPr>
        <a:xfrm>
          <a:off x="0" y="0"/>
          <a:ext cx="0" cy="0"/>
          <a:chOff x="0" y="0"/>
          <a:chExt cx="0" cy="0"/>
        </a:xfrm>
      </p:grpSpPr>
      <p:sp>
        <p:nvSpPr>
          <p:cNvPr id="2" name="Shape 0"/>
          <p:cNvSpPr/>
          <p:nvPr/>
        </p:nvSpPr>
        <p:spPr>
          <a:xfrm>
            <a:off x="8869680" y="-1463040"/>
            <a:ext cx="5120640" cy="5120640"/>
          </a:xfrm>
          <a:prstGeom prst="ellipse">
            <a:avLst/>
          </a:prstGeom>
          <a:solidFill>
            <a:srgbClr val="232B5E"/>
          </a:solidFill>
          <a:ln/>
        </p:spPr>
        <p:txBody>
          <a:bodyPr/>
          <a:lstStyle/>
          <a:p>
            <a:endParaRPr lang="en-US"/>
          </a:p>
        </p:txBody>
      </p:sp>
      <p:sp>
        <p:nvSpPr>
          <p:cNvPr id="3" name="Shape 1"/>
          <p:cNvSpPr/>
          <p:nvPr/>
        </p:nvSpPr>
        <p:spPr>
          <a:xfrm>
            <a:off x="10424160" y="4297680"/>
            <a:ext cx="3291840" cy="3291840"/>
          </a:xfrm>
          <a:prstGeom prst="ellipse">
            <a:avLst/>
          </a:prstGeom>
          <a:solidFill>
            <a:srgbClr val="F96167">
              <a:alpha val="22000"/>
            </a:srgbClr>
          </a:solidFill>
          <a:ln/>
        </p:spPr>
        <p:txBody>
          <a:bodyPr/>
          <a:lstStyle/>
          <a:p>
            <a:endParaRPr lang="en-US"/>
          </a:p>
        </p:txBody>
      </p:sp>
      <p:sp>
        <p:nvSpPr>
          <p:cNvPr id="4" name="Shape 2"/>
          <p:cNvSpPr/>
          <p:nvPr/>
        </p:nvSpPr>
        <p:spPr>
          <a:xfrm>
            <a:off x="-1188720" y="4846320"/>
            <a:ext cx="2926080" cy="2926080"/>
          </a:xfrm>
          <a:prstGeom prst="ellipse">
            <a:avLst/>
          </a:prstGeom>
          <a:solidFill>
            <a:srgbClr val="F9E795">
              <a:alpha val="18000"/>
            </a:srgbClr>
          </a:solidFill>
          <a:ln/>
        </p:spPr>
        <p:txBody>
          <a:bodyPr/>
          <a:lstStyle/>
          <a:p>
            <a:endParaRPr lang="en-US"/>
          </a:p>
        </p:txBody>
      </p:sp>
      <p:sp>
        <p:nvSpPr>
          <p:cNvPr id="5" name="Text 3"/>
          <p:cNvSpPr/>
          <p:nvPr/>
        </p:nvSpPr>
        <p:spPr>
          <a:xfrm>
            <a:off x="822960" y="1965960"/>
            <a:ext cx="7315200" cy="365760"/>
          </a:xfrm>
          <a:prstGeom prst="rect">
            <a:avLst/>
          </a:prstGeom>
          <a:noFill/>
          <a:ln/>
        </p:spPr>
        <p:txBody>
          <a:bodyPr wrap="square" rtlCol="0" anchor="ctr"/>
          <a:lstStyle/>
          <a:p>
            <a:pPr marL="0" indent="0">
              <a:buNone/>
            </a:pPr>
            <a:r>
              <a:rPr lang="en-US" sz="1300" b="1" kern="0" spc="300" dirty="0">
                <a:solidFill>
                  <a:srgbClr val="F9E795"/>
                </a:solidFill>
                <a:latin typeface="Calibri" pitchFamily="34" charset="0"/>
                <a:ea typeface="Calibri" pitchFamily="34" charset="-122"/>
                <a:cs typeface="Calibri" pitchFamily="34" charset="-120"/>
              </a:rPr>
              <a:t>DATA ANALYTICS PROJECT</a:t>
            </a:r>
            <a:endParaRPr lang="en-US" sz="1300" dirty="0"/>
          </a:p>
        </p:txBody>
      </p:sp>
      <p:sp>
        <p:nvSpPr>
          <p:cNvPr id="6" name="Text 4"/>
          <p:cNvSpPr/>
          <p:nvPr/>
        </p:nvSpPr>
        <p:spPr>
          <a:xfrm>
            <a:off x="777240" y="2331720"/>
            <a:ext cx="9601200" cy="1737360"/>
          </a:xfrm>
          <a:prstGeom prst="rect">
            <a:avLst/>
          </a:prstGeom>
          <a:noFill/>
          <a:ln/>
        </p:spPr>
        <p:txBody>
          <a:bodyPr wrap="square" rtlCol="0" anchor="ctr"/>
          <a:lstStyle/>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Customer Shopping</a:t>
            </a:r>
            <a:endParaRPr lang="en-US" sz="4400" dirty="0"/>
          </a:p>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Behavior Analysis</a:t>
            </a:r>
            <a:endParaRPr lang="en-US" sz="4400" dirty="0"/>
          </a:p>
        </p:txBody>
      </p:sp>
      <p:sp>
        <p:nvSpPr>
          <p:cNvPr id="7" name="Text 5"/>
          <p:cNvSpPr/>
          <p:nvPr/>
        </p:nvSpPr>
        <p:spPr>
          <a:xfrm>
            <a:off x="822960" y="4160520"/>
            <a:ext cx="8686800" cy="731520"/>
          </a:xfrm>
          <a:prstGeom prst="rect">
            <a:avLst/>
          </a:prstGeom>
          <a:noFill/>
          <a:ln/>
        </p:spPr>
        <p:txBody>
          <a:bodyPr wrap="square" rtlCol="0" anchor="ctr"/>
          <a:lstStyle/>
          <a:p>
            <a:pPr marL="0" indent="0">
              <a:lnSpc>
                <a:spcPct val="130000"/>
              </a:lnSpc>
              <a:buNone/>
            </a:pPr>
            <a:r>
              <a:rPr lang="en-US" sz="1500" dirty="0">
                <a:solidFill>
                  <a:srgbClr val="C7CCE8"/>
                </a:solidFill>
                <a:latin typeface="Calibri" pitchFamily="34" charset="0"/>
                <a:ea typeface="Calibri" pitchFamily="34" charset="-122"/>
                <a:cs typeface="Calibri" pitchFamily="34" charset="-120"/>
              </a:rPr>
              <a:t>Turning 3,900 retail transactions into segmentation, pricing, and retention insights</a:t>
            </a:r>
            <a:endParaRPr lang="en-US" sz="1500" dirty="0"/>
          </a:p>
          <a:p>
            <a:pPr marL="0" indent="0">
              <a:lnSpc>
                <a:spcPct val="130000"/>
              </a:lnSpc>
              <a:buNone/>
            </a:pPr>
            <a:r>
              <a:rPr lang="en-US" sz="1500" dirty="0">
                <a:solidFill>
                  <a:srgbClr val="C7CCE8"/>
                </a:solidFill>
                <a:latin typeface="Calibri" pitchFamily="34" charset="0"/>
                <a:ea typeface="Calibri" pitchFamily="34" charset="-122"/>
                <a:cs typeface="Calibri" pitchFamily="34" charset="-120"/>
              </a:rPr>
              <a:t>using Python, PostgreSQL, and Power BI.</a:t>
            </a:r>
            <a:endParaRPr lang="en-US" sz="1500" dirty="0"/>
          </a:p>
        </p:txBody>
      </p:sp>
      <p:sp>
        <p:nvSpPr>
          <p:cNvPr id="8" name="Shape 6"/>
          <p:cNvSpPr/>
          <p:nvPr/>
        </p:nvSpPr>
        <p:spPr>
          <a:xfrm>
            <a:off x="822960" y="5074920"/>
            <a:ext cx="1005840" cy="0"/>
          </a:xfrm>
          <a:prstGeom prst="line">
            <a:avLst/>
          </a:prstGeom>
          <a:noFill/>
          <a:ln w="38100">
            <a:solidFill>
              <a:srgbClr val="F96167"/>
            </a:solidFill>
            <a:prstDash val="solid"/>
          </a:ln>
        </p:spPr>
        <p:txBody>
          <a:bodyPr/>
          <a:lstStyle/>
          <a:p>
            <a:endParaRPr lang="en-US"/>
          </a:p>
        </p:txBody>
      </p:sp>
      <p:sp>
        <p:nvSpPr>
          <p:cNvPr id="9" name="Text 7"/>
          <p:cNvSpPr/>
          <p:nvPr/>
        </p:nvSpPr>
        <p:spPr>
          <a:xfrm>
            <a:off x="822960" y="6080760"/>
            <a:ext cx="7315200" cy="320040"/>
          </a:xfrm>
          <a:prstGeom prst="rect">
            <a:avLst/>
          </a:prstGeom>
          <a:noFill/>
          <a:ln/>
        </p:spPr>
        <p:txBody>
          <a:bodyPr wrap="square" rtlCol="0" anchor="ctr"/>
          <a:lstStyle/>
          <a:p>
            <a:pPr marL="0" indent="0">
              <a:buNone/>
            </a:pPr>
            <a:r>
              <a:rPr lang="en-US" sz="1250" dirty="0">
                <a:solidFill>
                  <a:srgbClr val="9AA3C9"/>
                </a:solidFill>
                <a:latin typeface="Calibri" pitchFamily="34" charset="0"/>
                <a:ea typeface="Calibri" pitchFamily="34" charset="-122"/>
                <a:cs typeface="Calibri" pitchFamily="34" charset="-120"/>
              </a:rPr>
              <a:t>Python  ·  SQL (PostgreSQL)  ·  Power BI</a:t>
            </a:r>
            <a:endParaRPr lang="en-US" sz="1250" dirty="0"/>
          </a:p>
        </p:txBody>
      </p:sp>
      <p:sp>
        <p:nvSpPr>
          <p:cNvPr id="10" name="Text 8"/>
          <p:cNvSpPr/>
          <p:nvPr/>
        </p:nvSpPr>
        <p:spPr>
          <a:xfrm>
            <a:off x="822960" y="6382512"/>
            <a:ext cx="7315200" cy="320040"/>
          </a:xfrm>
          <a:prstGeom prst="rect">
            <a:avLst/>
          </a:prstGeom>
          <a:noFill/>
          <a:ln/>
        </p:spPr>
        <p:txBody>
          <a:bodyPr wrap="square" rtlCol="0" anchor="ctr"/>
          <a:lstStyle/>
          <a:p>
            <a:pPr marL="0" indent="0">
              <a:buNone/>
            </a:pPr>
            <a:r>
              <a:rPr lang="en-US" sz="1250" b="1" dirty="0" err="1">
                <a:solidFill>
                  <a:srgbClr val="FFFFFF"/>
                </a:solidFill>
                <a:latin typeface="Calibri" pitchFamily="34" charset="0"/>
                <a:ea typeface="Calibri" pitchFamily="34" charset="-122"/>
                <a:cs typeface="Calibri" pitchFamily="34" charset="-120"/>
              </a:rPr>
              <a:t>vishal</a:t>
            </a:r>
            <a:r>
              <a:rPr lang="en-US" sz="1250" b="1" dirty="0">
                <a:solidFill>
                  <a:srgbClr val="FFFFFF"/>
                </a:solidFill>
                <a:latin typeface="Calibri" pitchFamily="34" charset="0"/>
                <a:ea typeface="Calibri" pitchFamily="34" charset="-122"/>
                <a:cs typeface="Calibri" pitchFamily="34" charset="-120"/>
              </a:rPr>
              <a:t> Sang</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000" b="1" dirty="0">
                <a:solidFill>
                  <a:srgbClr val="23253B"/>
                </a:solidFill>
                <a:latin typeface="Cambria" pitchFamily="34" charset="0"/>
                <a:ea typeface="Cambria" pitchFamily="34" charset="-122"/>
                <a:cs typeface="Cambria" pitchFamily="34" charset="-120"/>
              </a:rPr>
              <a:t>From raw checkout data to strategic insight</a:t>
            </a:r>
            <a:endParaRPr lang="en-US" sz="3000" dirty="0"/>
          </a:p>
        </p:txBody>
      </p:sp>
      <p:sp>
        <p:nvSpPr>
          <p:cNvPr id="4" name="Text 2"/>
          <p:cNvSpPr/>
          <p:nvPr/>
        </p:nvSpPr>
        <p:spPr>
          <a:xfrm>
            <a:off x="548640" y="1508760"/>
            <a:ext cx="6126480" cy="2377440"/>
          </a:xfrm>
          <a:prstGeom prst="rect">
            <a:avLst/>
          </a:prstGeom>
          <a:noFill/>
          <a:ln/>
        </p:spPr>
        <p:txBody>
          <a:bodyPr wrap="square" rtlCol="0" anchor="ctr"/>
          <a:lstStyle/>
          <a:p>
            <a:pPr marL="0" indent="0" algn="l">
              <a:lnSpc>
                <a:spcPct val="135000"/>
              </a:lnSpc>
              <a:buNone/>
            </a:pPr>
            <a:r>
              <a:rPr lang="en-US" sz="1450" dirty="0">
                <a:solidFill>
                  <a:srgbClr val="23253B"/>
                </a:solidFill>
                <a:latin typeface="Calibri" pitchFamily="34" charset="0"/>
                <a:ea typeface="Calibri" pitchFamily="34" charset="-122"/>
                <a:cs typeface="Calibri" pitchFamily="34" charset="-120"/>
              </a:rPr>
              <a:t>The dataset captures 3,900 individual retail purchases spanning apparel, footwear, accessories, and outerwear. The goal was to move beyond raw transactions and uncover patterns in spending, loyalty, and channel behavior that a retail team could act on — who buys, what drives discount reliance, and which segments deserve investment.</a:t>
            </a:r>
            <a:endParaRPr lang="en-US" sz="1450" dirty="0"/>
          </a:p>
        </p:txBody>
      </p:sp>
      <p:sp>
        <p:nvSpPr>
          <p:cNvPr id="5" name="Text 3"/>
          <p:cNvSpPr/>
          <p:nvPr/>
        </p:nvSpPr>
        <p:spPr>
          <a:xfrm>
            <a:off x="548640" y="4069080"/>
            <a:ext cx="3657600" cy="274320"/>
          </a:xfrm>
          <a:prstGeom prst="rect">
            <a:avLst/>
          </a:prstGeom>
          <a:noFill/>
          <a:ln/>
        </p:spPr>
        <p:txBody>
          <a:bodyPr wrap="square"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SCOPE</a:t>
            </a:r>
            <a:endParaRPr lang="en-US" sz="1100" dirty="0"/>
          </a:p>
        </p:txBody>
      </p:sp>
      <p:sp>
        <p:nvSpPr>
          <p:cNvPr id="6" name="Shape 4"/>
          <p:cNvSpPr/>
          <p:nvPr/>
        </p:nvSpPr>
        <p:spPr>
          <a:xfrm>
            <a:off x="548640" y="4443984"/>
            <a:ext cx="82296" cy="82296"/>
          </a:xfrm>
          <a:prstGeom prst="ellipse">
            <a:avLst/>
          </a:prstGeom>
          <a:solidFill>
            <a:srgbClr val="F96167"/>
          </a:solidFill>
          <a:ln/>
        </p:spPr>
        <p:txBody>
          <a:bodyPr/>
          <a:lstStyle/>
          <a:p>
            <a:endParaRPr lang="en-US"/>
          </a:p>
        </p:txBody>
      </p:sp>
      <p:sp>
        <p:nvSpPr>
          <p:cNvPr id="7" name="Text 5"/>
          <p:cNvSpPr/>
          <p:nvPr/>
        </p:nvSpPr>
        <p:spPr>
          <a:xfrm>
            <a:off x="777240" y="4389120"/>
            <a:ext cx="5852160" cy="365760"/>
          </a:xfrm>
          <a:prstGeom prst="rect">
            <a:avLst/>
          </a:prstGeom>
          <a:noFill/>
          <a:ln/>
        </p:spPr>
        <p:txBody>
          <a:bodyPr wrap="square" rtlCol="0" anchor="t"/>
          <a:lstStyle/>
          <a:p>
            <a:pPr marL="0" indent="0">
              <a:buNone/>
            </a:pPr>
            <a:r>
              <a:rPr lang="en-US" sz="1250" b="1" dirty="0">
                <a:solidFill>
                  <a:srgbClr val="23253B"/>
                </a:solidFill>
                <a:latin typeface="Calibri" pitchFamily="34" charset="0"/>
                <a:ea typeface="Calibri" pitchFamily="34" charset="-122"/>
                <a:cs typeface="Calibri" pitchFamily="34" charset="-120"/>
              </a:rPr>
              <a:t>Demographics  </a:t>
            </a:r>
            <a:r>
              <a:rPr lang="en-US" sz="1250" dirty="0">
                <a:solidFill>
                  <a:srgbClr val="6B7280"/>
                </a:solidFill>
                <a:latin typeface="Calibri" pitchFamily="34" charset="0"/>
                <a:ea typeface="Calibri" pitchFamily="34" charset="-122"/>
                <a:cs typeface="Calibri" pitchFamily="34" charset="-120"/>
              </a:rPr>
              <a:t>Age, gender, location, subscription status</a:t>
            </a:r>
            <a:endParaRPr lang="en-US" sz="1250" dirty="0"/>
          </a:p>
        </p:txBody>
      </p:sp>
      <p:sp>
        <p:nvSpPr>
          <p:cNvPr id="8" name="Shape 6"/>
          <p:cNvSpPr/>
          <p:nvPr/>
        </p:nvSpPr>
        <p:spPr>
          <a:xfrm>
            <a:off x="548640" y="4919472"/>
            <a:ext cx="82296" cy="82296"/>
          </a:xfrm>
          <a:prstGeom prst="ellipse">
            <a:avLst/>
          </a:prstGeom>
          <a:solidFill>
            <a:srgbClr val="F96167"/>
          </a:solidFill>
          <a:ln/>
        </p:spPr>
        <p:txBody>
          <a:bodyPr/>
          <a:lstStyle/>
          <a:p>
            <a:endParaRPr lang="en-US"/>
          </a:p>
        </p:txBody>
      </p:sp>
      <p:sp>
        <p:nvSpPr>
          <p:cNvPr id="9" name="Text 7"/>
          <p:cNvSpPr/>
          <p:nvPr/>
        </p:nvSpPr>
        <p:spPr>
          <a:xfrm>
            <a:off x="777240" y="4864608"/>
            <a:ext cx="5852160" cy="365760"/>
          </a:xfrm>
          <a:prstGeom prst="rect">
            <a:avLst/>
          </a:prstGeom>
          <a:noFill/>
          <a:ln/>
        </p:spPr>
        <p:txBody>
          <a:bodyPr wrap="square" rtlCol="0" anchor="t"/>
          <a:lstStyle/>
          <a:p>
            <a:pPr marL="0" indent="0">
              <a:buNone/>
            </a:pPr>
            <a:r>
              <a:rPr lang="en-US" sz="1250" b="1" dirty="0">
                <a:solidFill>
                  <a:srgbClr val="23253B"/>
                </a:solidFill>
                <a:latin typeface="Calibri" pitchFamily="34" charset="0"/>
                <a:ea typeface="Calibri" pitchFamily="34" charset="-122"/>
                <a:cs typeface="Calibri" pitchFamily="34" charset="-120"/>
              </a:rPr>
              <a:t>Purchase details  </a:t>
            </a:r>
            <a:r>
              <a:rPr lang="en-US" sz="1250" dirty="0">
                <a:solidFill>
                  <a:srgbClr val="6B7280"/>
                </a:solidFill>
                <a:latin typeface="Calibri" pitchFamily="34" charset="0"/>
                <a:ea typeface="Calibri" pitchFamily="34" charset="-122"/>
                <a:cs typeface="Calibri" pitchFamily="34" charset="-120"/>
              </a:rPr>
              <a:t>Item, category, amount, season, size, color</a:t>
            </a:r>
            <a:endParaRPr lang="en-US" sz="1250" dirty="0"/>
          </a:p>
        </p:txBody>
      </p:sp>
      <p:sp>
        <p:nvSpPr>
          <p:cNvPr id="10" name="Shape 8"/>
          <p:cNvSpPr/>
          <p:nvPr/>
        </p:nvSpPr>
        <p:spPr>
          <a:xfrm>
            <a:off x="548640" y="5394960"/>
            <a:ext cx="82296" cy="82296"/>
          </a:xfrm>
          <a:prstGeom prst="ellipse">
            <a:avLst/>
          </a:prstGeom>
          <a:solidFill>
            <a:srgbClr val="F96167"/>
          </a:solidFill>
          <a:ln/>
        </p:spPr>
        <p:txBody>
          <a:bodyPr/>
          <a:lstStyle/>
          <a:p>
            <a:endParaRPr lang="en-US"/>
          </a:p>
        </p:txBody>
      </p:sp>
      <p:sp>
        <p:nvSpPr>
          <p:cNvPr id="11" name="Text 9"/>
          <p:cNvSpPr/>
          <p:nvPr/>
        </p:nvSpPr>
        <p:spPr>
          <a:xfrm>
            <a:off x="777240" y="5340096"/>
            <a:ext cx="5852160" cy="365760"/>
          </a:xfrm>
          <a:prstGeom prst="rect">
            <a:avLst/>
          </a:prstGeom>
          <a:noFill/>
          <a:ln/>
        </p:spPr>
        <p:txBody>
          <a:bodyPr wrap="square" rtlCol="0" anchor="t"/>
          <a:lstStyle/>
          <a:p>
            <a:pPr marL="0" indent="0">
              <a:buNone/>
            </a:pPr>
            <a:r>
              <a:rPr lang="en-US" sz="1250" b="1" dirty="0">
                <a:solidFill>
                  <a:srgbClr val="23253B"/>
                </a:solidFill>
                <a:latin typeface="Calibri" pitchFamily="34" charset="0"/>
                <a:ea typeface="Calibri" pitchFamily="34" charset="-122"/>
                <a:cs typeface="Calibri" pitchFamily="34" charset="-120"/>
              </a:rPr>
              <a:t>Shopping behavior  </a:t>
            </a:r>
            <a:r>
              <a:rPr lang="en-US" sz="1250" dirty="0">
                <a:solidFill>
                  <a:srgbClr val="6B7280"/>
                </a:solidFill>
                <a:latin typeface="Calibri" pitchFamily="34" charset="0"/>
                <a:ea typeface="Calibri" pitchFamily="34" charset="-122"/>
                <a:cs typeface="Calibri" pitchFamily="34" charset="-120"/>
              </a:rPr>
              <a:t>Discounts, promo codes, frequency, ratings, shipping</a:t>
            </a:r>
            <a:endParaRPr lang="en-US" sz="1250" dirty="0"/>
          </a:p>
        </p:txBody>
      </p:sp>
      <p:sp>
        <p:nvSpPr>
          <p:cNvPr id="12" name="Shape 10"/>
          <p:cNvSpPr/>
          <p:nvPr/>
        </p:nvSpPr>
        <p:spPr>
          <a:xfrm>
            <a:off x="7086600" y="1508760"/>
            <a:ext cx="2135124" cy="1207008"/>
          </a:xfrm>
          <a:prstGeom prst="roundRect">
            <a:avLst>
              <a:gd name="adj" fmla="val 6061"/>
            </a:avLst>
          </a:prstGeom>
          <a:solidFill>
            <a:srgbClr val="FDF8E4"/>
          </a:solidFill>
          <a:ln/>
          <a:effectLst>
            <a:outerShdw blurRad="76200" dist="25400" dir="5400000" algn="bl" rotWithShape="0">
              <a:srgbClr val="1F2937">
                <a:alpha val="12000"/>
              </a:srgbClr>
            </a:outerShdw>
          </a:effectLst>
        </p:spPr>
        <p:txBody>
          <a:bodyPr/>
          <a:lstStyle/>
          <a:p>
            <a:endParaRPr lang="en-US"/>
          </a:p>
        </p:txBody>
      </p:sp>
      <p:sp>
        <p:nvSpPr>
          <p:cNvPr id="13" name="Text 11"/>
          <p:cNvSpPr/>
          <p:nvPr/>
        </p:nvSpPr>
        <p:spPr>
          <a:xfrm>
            <a:off x="7251192" y="1618488"/>
            <a:ext cx="1805940" cy="566928"/>
          </a:xfrm>
          <a:prstGeom prst="rect">
            <a:avLst/>
          </a:prstGeom>
          <a:noFill/>
          <a:ln/>
        </p:spPr>
        <p:txBody>
          <a:bodyPr wrap="square" lIns="0" tIns="0" rIns="0" bIns="0"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3,900</a:t>
            </a:r>
            <a:endParaRPr lang="en-US" sz="3000" dirty="0"/>
          </a:p>
        </p:txBody>
      </p:sp>
      <p:sp>
        <p:nvSpPr>
          <p:cNvPr id="14" name="Text 12"/>
          <p:cNvSpPr/>
          <p:nvPr/>
        </p:nvSpPr>
        <p:spPr>
          <a:xfrm>
            <a:off x="7251192" y="2258568"/>
            <a:ext cx="180594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Transactions analyzed</a:t>
            </a:r>
            <a:endParaRPr lang="en-US" sz="1100" dirty="0"/>
          </a:p>
        </p:txBody>
      </p:sp>
      <p:sp>
        <p:nvSpPr>
          <p:cNvPr id="15" name="Shape 13"/>
          <p:cNvSpPr/>
          <p:nvPr/>
        </p:nvSpPr>
        <p:spPr>
          <a:xfrm>
            <a:off x="9477756" y="1508760"/>
            <a:ext cx="2135124" cy="1207008"/>
          </a:xfrm>
          <a:prstGeom prst="roundRect">
            <a:avLst>
              <a:gd name="adj" fmla="val 6061"/>
            </a:avLst>
          </a:prstGeom>
          <a:solidFill>
            <a:srgbClr val="FDF8E4"/>
          </a:solidFill>
          <a:ln/>
          <a:effectLst>
            <a:outerShdw blurRad="76200" dist="25400" dir="5400000" algn="bl" rotWithShape="0">
              <a:srgbClr val="1F2937">
                <a:alpha val="12000"/>
              </a:srgbClr>
            </a:outerShdw>
          </a:effectLst>
        </p:spPr>
        <p:txBody>
          <a:bodyPr/>
          <a:lstStyle/>
          <a:p>
            <a:endParaRPr lang="en-US"/>
          </a:p>
        </p:txBody>
      </p:sp>
      <p:sp>
        <p:nvSpPr>
          <p:cNvPr id="16" name="Text 14"/>
          <p:cNvSpPr/>
          <p:nvPr/>
        </p:nvSpPr>
        <p:spPr>
          <a:xfrm>
            <a:off x="9642348" y="1618488"/>
            <a:ext cx="1805940" cy="566928"/>
          </a:xfrm>
          <a:prstGeom prst="rect">
            <a:avLst/>
          </a:prstGeom>
          <a:noFill/>
          <a:ln/>
        </p:spPr>
        <p:txBody>
          <a:bodyPr wrap="square" lIns="0" tIns="0" rIns="0" bIns="0"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18</a:t>
            </a:r>
            <a:endParaRPr lang="en-US" sz="3000" dirty="0"/>
          </a:p>
        </p:txBody>
      </p:sp>
      <p:sp>
        <p:nvSpPr>
          <p:cNvPr id="17" name="Text 15"/>
          <p:cNvSpPr/>
          <p:nvPr/>
        </p:nvSpPr>
        <p:spPr>
          <a:xfrm>
            <a:off x="9642348" y="2258568"/>
            <a:ext cx="180594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Data fields per record</a:t>
            </a:r>
            <a:endParaRPr lang="en-US" sz="1100" dirty="0"/>
          </a:p>
        </p:txBody>
      </p:sp>
      <p:sp>
        <p:nvSpPr>
          <p:cNvPr id="18" name="Shape 16"/>
          <p:cNvSpPr/>
          <p:nvPr/>
        </p:nvSpPr>
        <p:spPr>
          <a:xfrm>
            <a:off x="7086600" y="2926080"/>
            <a:ext cx="2135124" cy="1207008"/>
          </a:xfrm>
          <a:prstGeom prst="roundRect">
            <a:avLst>
              <a:gd name="adj" fmla="val 6061"/>
            </a:avLst>
          </a:prstGeom>
          <a:solidFill>
            <a:srgbClr val="FDF8E4"/>
          </a:solidFill>
          <a:ln/>
          <a:effectLst>
            <a:outerShdw blurRad="76200" dist="25400" dir="5400000" algn="bl" rotWithShape="0">
              <a:srgbClr val="1F2937">
                <a:alpha val="12000"/>
              </a:srgbClr>
            </a:outerShdw>
          </a:effectLst>
        </p:spPr>
        <p:txBody>
          <a:bodyPr/>
          <a:lstStyle/>
          <a:p>
            <a:endParaRPr lang="en-US"/>
          </a:p>
        </p:txBody>
      </p:sp>
      <p:sp>
        <p:nvSpPr>
          <p:cNvPr id="19" name="Text 17"/>
          <p:cNvSpPr/>
          <p:nvPr/>
        </p:nvSpPr>
        <p:spPr>
          <a:xfrm>
            <a:off x="7251192" y="3035808"/>
            <a:ext cx="1805940" cy="566928"/>
          </a:xfrm>
          <a:prstGeom prst="rect">
            <a:avLst/>
          </a:prstGeom>
          <a:noFill/>
          <a:ln/>
        </p:spPr>
        <p:txBody>
          <a:bodyPr wrap="square" lIns="0" tIns="0" rIns="0" bIns="0"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37</a:t>
            </a:r>
            <a:endParaRPr lang="en-US" sz="3000" dirty="0"/>
          </a:p>
        </p:txBody>
      </p:sp>
      <p:sp>
        <p:nvSpPr>
          <p:cNvPr id="20" name="Text 18"/>
          <p:cNvSpPr/>
          <p:nvPr/>
        </p:nvSpPr>
        <p:spPr>
          <a:xfrm>
            <a:off x="7251192" y="3675888"/>
            <a:ext cx="180594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Missing ratings imputed</a:t>
            </a:r>
            <a:endParaRPr lang="en-US" sz="1100" dirty="0"/>
          </a:p>
        </p:txBody>
      </p:sp>
      <p:sp>
        <p:nvSpPr>
          <p:cNvPr id="21" name="Shape 19"/>
          <p:cNvSpPr/>
          <p:nvPr/>
        </p:nvSpPr>
        <p:spPr>
          <a:xfrm>
            <a:off x="9477756" y="2926080"/>
            <a:ext cx="2135124" cy="1207008"/>
          </a:xfrm>
          <a:prstGeom prst="roundRect">
            <a:avLst>
              <a:gd name="adj" fmla="val 6061"/>
            </a:avLst>
          </a:prstGeom>
          <a:solidFill>
            <a:srgbClr val="FDF8E4"/>
          </a:solidFill>
          <a:ln/>
          <a:effectLst>
            <a:outerShdw blurRad="76200" dist="25400" dir="5400000" algn="bl" rotWithShape="0">
              <a:srgbClr val="1F2937">
                <a:alpha val="12000"/>
              </a:srgbClr>
            </a:outerShdw>
          </a:effectLst>
        </p:spPr>
        <p:txBody>
          <a:bodyPr/>
          <a:lstStyle/>
          <a:p>
            <a:endParaRPr lang="en-US"/>
          </a:p>
        </p:txBody>
      </p:sp>
      <p:sp>
        <p:nvSpPr>
          <p:cNvPr id="22" name="Text 20"/>
          <p:cNvSpPr/>
          <p:nvPr/>
        </p:nvSpPr>
        <p:spPr>
          <a:xfrm>
            <a:off x="9642348" y="3035808"/>
            <a:ext cx="1805940" cy="566928"/>
          </a:xfrm>
          <a:prstGeom prst="rect">
            <a:avLst/>
          </a:prstGeom>
          <a:noFill/>
          <a:ln/>
        </p:spPr>
        <p:txBody>
          <a:bodyPr wrap="square" lIns="0" tIns="0" rIns="0" bIns="0"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10</a:t>
            </a:r>
            <a:endParaRPr lang="en-US" sz="3000" dirty="0"/>
          </a:p>
        </p:txBody>
      </p:sp>
      <p:sp>
        <p:nvSpPr>
          <p:cNvPr id="23" name="Text 21"/>
          <p:cNvSpPr/>
          <p:nvPr/>
        </p:nvSpPr>
        <p:spPr>
          <a:xfrm>
            <a:off x="9642348" y="3675888"/>
            <a:ext cx="180594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SQL business questions answered</a:t>
            </a:r>
            <a:endParaRPr lang="en-US" sz="1100" dirty="0"/>
          </a:p>
        </p:txBody>
      </p:sp>
      <p:sp>
        <p:nvSpPr>
          <p:cNvPr id="24" name="Text 2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METHODOLOGY — PYTHON</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000" b="1" dirty="0">
                <a:solidFill>
                  <a:srgbClr val="23253B"/>
                </a:solidFill>
                <a:latin typeface="Cambria" pitchFamily="34" charset="0"/>
                <a:ea typeface="Cambria" pitchFamily="34" charset="-122"/>
                <a:cs typeface="Cambria" pitchFamily="34" charset="-120"/>
              </a:rPr>
              <a:t>Preparing the data before analysis</a:t>
            </a:r>
            <a:endParaRPr lang="en-US" sz="3000" dirty="0"/>
          </a:p>
        </p:txBody>
      </p:sp>
      <p:sp>
        <p:nvSpPr>
          <p:cNvPr id="4" name="Shape 2"/>
          <p:cNvSpPr/>
          <p:nvPr/>
        </p:nvSpPr>
        <p:spPr>
          <a:xfrm>
            <a:off x="548640" y="1600200"/>
            <a:ext cx="3639312" cy="1965960"/>
          </a:xfrm>
          <a:prstGeom prst="roundRect">
            <a:avLst>
              <a:gd name="adj" fmla="val 4186"/>
            </a:avLst>
          </a:prstGeom>
          <a:solidFill>
            <a:srgbClr val="FFFFFF"/>
          </a:solidFill>
          <a:ln w="12700">
            <a:solidFill>
              <a:srgbClr val="E4E2D8"/>
            </a:solidFill>
            <a:prstDash val="solid"/>
          </a:ln>
          <a:effectLst>
            <a:outerShdw blurRad="63500" dist="25400" dir="5400000" algn="bl" rotWithShape="0">
              <a:srgbClr val="1F2937">
                <a:alpha val="8000"/>
              </a:srgbClr>
            </a:outerShdw>
          </a:effectLst>
        </p:spPr>
        <p:txBody>
          <a:bodyPr/>
          <a:lstStyle/>
          <a:p>
            <a:endParaRPr lang="en-US"/>
          </a:p>
        </p:txBody>
      </p:sp>
      <p:sp>
        <p:nvSpPr>
          <p:cNvPr id="5" name="Shape 3"/>
          <p:cNvSpPr/>
          <p:nvPr/>
        </p:nvSpPr>
        <p:spPr>
          <a:xfrm>
            <a:off x="722376" y="1773936"/>
            <a:ext cx="566928" cy="566928"/>
          </a:xfrm>
          <a:prstGeom prst="ellipse">
            <a:avLst/>
          </a:prstGeom>
          <a:solidFill>
            <a:srgbClr val="2F3C7E"/>
          </a:solidFill>
          <a:ln/>
        </p:spPr>
        <p:txBody>
          <a:bodyPr/>
          <a:lstStyle/>
          <a:p>
            <a:endParaRPr lang="en-US"/>
          </a:p>
        </p:txBody>
      </p:sp>
      <p:pic>
        <p:nvPicPr>
          <p:cNvPr id="6" name="Image 0" descr="icons_database.png"/>
          <p:cNvPicPr>
            <a:picLocks noChangeAspect="1"/>
          </p:cNvPicPr>
          <p:nvPr/>
        </p:nvPicPr>
        <p:blipFill>
          <a:blip r:embed="rId3"/>
          <a:stretch>
            <a:fillRect/>
          </a:stretch>
        </p:blipFill>
        <p:spPr>
          <a:xfrm>
            <a:off x="864108" y="1915668"/>
            <a:ext cx="283464" cy="283464"/>
          </a:xfrm>
          <a:prstGeom prst="rect">
            <a:avLst/>
          </a:prstGeom>
        </p:spPr>
      </p:pic>
      <p:sp>
        <p:nvSpPr>
          <p:cNvPr id="7" name="Text 4"/>
          <p:cNvSpPr/>
          <p:nvPr/>
        </p:nvSpPr>
        <p:spPr>
          <a:xfrm>
            <a:off x="804672" y="2441448"/>
            <a:ext cx="3127248" cy="365760"/>
          </a:xfrm>
          <a:prstGeom prst="rect">
            <a:avLst/>
          </a:prstGeom>
          <a:noFill/>
          <a:ln/>
        </p:spPr>
        <p:txBody>
          <a:bodyPr wrap="square" lIns="0" tIns="0" rIns="0" bIns="0" rtlCol="0" anchor="ctr"/>
          <a:lstStyle/>
          <a:p>
            <a:pPr marL="0" indent="0">
              <a:buNone/>
            </a:pPr>
            <a:r>
              <a:rPr lang="en-US" sz="1350" b="1" dirty="0">
                <a:solidFill>
                  <a:srgbClr val="23253B"/>
                </a:solidFill>
                <a:latin typeface="Calibri" pitchFamily="34" charset="0"/>
                <a:ea typeface="Calibri" pitchFamily="34" charset="-122"/>
                <a:cs typeface="Calibri" pitchFamily="34" charset="-120"/>
              </a:rPr>
              <a:t>Data loading</a:t>
            </a:r>
            <a:endParaRPr lang="en-US" sz="1350" dirty="0"/>
          </a:p>
        </p:txBody>
      </p:sp>
      <p:sp>
        <p:nvSpPr>
          <p:cNvPr id="8" name="Text 5"/>
          <p:cNvSpPr/>
          <p:nvPr/>
        </p:nvSpPr>
        <p:spPr>
          <a:xfrm>
            <a:off x="804672" y="2788920"/>
            <a:ext cx="3127248" cy="685800"/>
          </a:xfrm>
          <a:prstGeom prst="rect">
            <a:avLst/>
          </a:prstGeom>
          <a:noFill/>
          <a:ln/>
        </p:spPr>
        <p:txBody>
          <a:bodyPr wrap="square" lIns="0" tIns="0" rIns="0" bIns="0" rtlCol="0" anchor="ctr"/>
          <a:lstStyle/>
          <a:p>
            <a:pPr marL="0" indent="0">
              <a:lnSpc>
                <a:spcPct val="122000"/>
              </a:lnSpc>
              <a:buNone/>
            </a:pPr>
            <a:r>
              <a:rPr lang="en-US" sz="1080" dirty="0">
                <a:solidFill>
                  <a:srgbClr val="6B7280"/>
                </a:solidFill>
                <a:latin typeface="Calibri" pitchFamily="34" charset="0"/>
                <a:ea typeface="Calibri" pitchFamily="34" charset="-122"/>
                <a:cs typeface="Calibri" pitchFamily="34" charset="-120"/>
              </a:rPr>
              <a:t>Imported the raw dataset with pandas; profiled structure with df.info() and .describe().</a:t>
            </a:r>
            <a:endParaRPr lang="en-US" sz="1080" dirty="0"/>
          </a:p>
        </p:txBody>
      </p:sp>
      <p:sp>
        <p:nvSpPr>
          <p:cNvPr id="9" name="Shape 6"/>
          <p:cNvSpPr/>
          <p:nvPr/>
        </p:nvSpPr>
        <p:spPr>
          <a:xfrm>
            <a:off x="4370832" y="1600200"/>
            <a:ext cx="3639312" cy="1965960"/>
          </a:xfrm>
          <a:prstGeom prst="roundRect">
            <a:avLst>
              <a:gd name="adj" fmla="val 4186"/>
            </a:avLst>
          </a:prstGeom>
          <a:solidFill>
            <a:srgbClr val="FFFFFF"/>
          </a:solidFill>
          <a:ln w="12700">
            <a:solidFill>
              <a:srgbClr val="E4E2D8"/>
            </a:solidFill>
            <a:prstDash val="solid"/>
          </a:ln>
          <a:effectLst>
            <a:outerShdw blurRad="63500" dist="25400" dir="5400000" algn="bl" rotWithShape="0">
              <a:srgbClr val="1F2937">
                <a:alpha val="8000"/>
              </a:srgbClr>
            </a:outerShdw>
          </a:effectLst>
        </p:spPr>
        <p:txBody>
          <a:bodyPr/>
          <a:lstStyle/>
          <a:p>
            <a:endParaRPr lang="en-US"/>
          </a:p>
        </p:txBody>
      </p:sp>
      <p:sp>
        <p:nvSpPr>
          <p:cNvPr id="10" name="Shape 7"/>
          <p:cNvSpPr/>
          <p:nvPr/>
        </p:nvSpPr>
        <p:spPr>
          <a:xfrm>
            <a:off x="4544568" y="1773936"/>
            <a:ext cx="566928" cy="566928"/>
          </a:xfrm>
          <a:prstGeom prst="ellipse">
            <a:avLst/>
          </a:prstGeom>
          <a:solidFill>
            <a:srgbClr val="F96167"/>
          </a:solidFill>
          <a:ln/>
        </p:spPr>
        <p:txBody>
          <a:bodyPr/>
          <a:lstStyle/>
          <a:p>
            <a:endParaRPr lang="en-US"/>
          </a:p>
        </p:txBody>
      </p:sp>
      <p:pic>
        <p:nvPicPr>
          <p:cNvPr id="11" name="Image 1" descr="icons_broom.png"/>
          <p:cNvPicPr>
            <a:picLocks noChangeAspect="1"/>
          </p:cNvPicPr>
          <p:nvPr/>
        </p:nvPicPr>
        <p:blipFill>
          <a:blip r:embed="rId4"/>
          <a:stretch>
            <a:fillRect/>
          </a:stretch>
        </p:blipFill>
        <p:spPr>
          <a:xfrm>
            <a:off x="4686300" y="1915668"/>
            <a:ext cx="283464" cy="283464"/>
          </a:xfrm>
          <a:prstGeom prst="rect">
            <a:avLst/>
          </a:prstGeom>
        </p:spPr>
      </p:pic>
      <p:sp>
        <p:nvSpPr>
          <p:cNvPr id="12" name="Text 8"/>
          <p:cNvSpPr/>
          <p:nvPr/>
        </p:nvSpPr>
        <p:spPr>
          <a:xfrm>
            <a:off x="4626864" y="2441448"/>
            <a:ext cx="3127248" cy="365760"/>
          </a:xfrm>
          <a:prstGeom prst="rect">
            <a:avLst/>
          </a:prstGeom>
          <a:noFill/>
          <a:ln/>
        </p:spPr>
        <p:txBody>
          <a:bodyPr wrap="square" lIns="0" tIns="0" rIns="0" bIns="0" rtlCol="0" anchor="ctr"/>
          <a:lstStyle/>
          <a:p>
            <a:pPr marL="0" indent="0">
              <a:buNone/>
            </a:pPr>
            <a:r>
              <a:rPr lang="en-US" sz="1350" b="1" dirty="0">
                <a:solidFill>
                  <a:srgbClr val="23253B"/>
                </a:solidFill>
                <a:latin typeface="Calibri" pitchFamily="34" charset="0"/>
                <a:ea typeface="Calibri" pitchFamily="34" charset="-122"/>
                <a:cs typeface="Calibri" pitchFamily="34" charset="-120"/>
              </a:rPr>
              <a:t>Missing-data handling</a:t>
            </a:r>
            <a:endParaRPr lang="en-US" sz="1350" dirty="0"/>
          </a:p>
        </p:txBody>
      </p:sp>
      <p:sp>
        <p:nvSpPr>
          <p:cNvPr id="13" name="Text 9"/>
          <p:cNvSpPr/>
          <p:nvPr/>
        </p:nvSpPr>
        <p:spPr>
          <a:xfrm>
            <a:off x="4626864" y="2788920"/>
            <a:ext cx="3127248" cy="685800"/>
          </a:xfrm>
          <a:prstGeom prst="rect">
            <a:avLst/>
          </a:prstGeom>
          <a:noFill/>
          <a:ln/>
        </p:spPr>
        <p:txBody>
          <a:bodyPr wrap="square" lIns="0" tIns="0" rIns="0" bIns="0" rtlCol="0" anchor="ctr"/>
          <a:lstStyle/>
          <a:p>
            <a:pPr marL="0" indent="0">
              <a:lnSpc>
                <a:spcPct val="122000"/>
              </a:lnSpc>
              <a:buNone/>
            </a:pPr>
            <a:r>
              <a:rPr lang="en-US" sz="1080" dirty="0">
                <a:solidFill>
                  <a:srgbClr val="6B7280"/>
                </a:solidFill>
                <a:latin typeface="Calibri" pitchFamily="34" charset="0"/>
                <a:ea typeface="Calibri" pitchFamily="34" charset="-122"/>
                <a:cs typeface="Calibri" pitchFamily="34" charset="-120"/>
              </a:rPr>
              <a:t>Imputed 37 missing Review Rating values using each product category's median rating.</a:t>
            </a:r>
            <a:endParaRPr lang="en-US" sz="1080" dirty="0"/>
          </a:p>
        </p:txBody>
      </p:sp>
      <p:sp>
        <p:nvSpPr>
          <p:cNvPr id="14" name="Shape 10"/>
          <p:cNvSpPr/>
          <p:nvPr/>
        </p:nvSpPr>
        <p:spPr>
          <a:xfrm>
            <a:off x="8193024" y="1600200"/>
            <a:ext cx="3639312" cy="1965960"/>
          </a:xfrm>
          <a:prstGeom prst="roundRect">
            <a:avLst>
              <a:gd name="adj" fmla="val 4186"/>
            </a:avLst>
          </a:prstGeom>
          <a:solidFill>
            <a:srgbClr val="FFFFFF"/>
          </a:solidFill>
          <a:ln w="12700">
            <a:solidFill>
              <a:srgbClr val="E4E2D8"/>
            </a:solidFill>
            <a:prstDash val="solid"/>
          </a:ln>
          <a:effectLst>
            <a:outerShdw blurRad="63500" dist="25400" dir="5400000" algn="bl" rotWithShape="0">
              <a:srgbClr val="1F2937">
                <a:alpha val="8000"/>
              </a:srgbClr>
            </a:outerShdw>
          </a:effectLst>
        </p:spPr>
        <p:txBody>
          <a:bodyPr/>
          <a:lstStyle/>
          <a:p>
            <a:endParaRPr lang="en-US"/>
          </a:p>
        </p:txBody>
      </p:sp>
      <p:sp>
        <p:nvSpPr>
          <p:cNvPr id="15" name="Shape 11"/>
          <p:cNvSpPr/>
          <p:nvPr/>
        </p:nvSpPr>
        <p:spPr>
          <a:xfrm>
            <a:off x="8366760" y="1773936"/>
            <a:ext cx="566928" cy="566928"/>
          </a:xfrm>
          <a:prstGeom prst="ellipse">
            <a:avLst/>
          </a:prstGeom>
          <a:solidFill>
            <a:srgbClr val="2F3C7E"/>
          </a:solidFill>
          <a:ln/>
        </p:spPr>
        <p:txBody>
          <a:bodyPr/>
          <a:lstStyle/>
          <a:p>
            <a:endParaRPr lang="en-US"/>
          </a:p>
        </p:txBody>
      </p:sp>
      <p:pic>
        <p:nvPicPr>
          <p:cNvPr id="16" name="Image 2" descr="icons_tags.png"/>
          <p:cNvPicPr>
            <a:picLocks noChangeAspect="1"/>
          </p:cNvPicPr>
          <p:nvPr/>
        </p:nvPicPr>
        <p:blipFill>
          <a:blip r:embed="rId5"/>
          <a:stretch>
            <a:fillRect/>
          </a:stretch>
        </p:blipFill>
        <p:spPr>
          <a:xfrm>
            <a:off x="8508492" y="1915668"/>
            <a:ext cx="283464" cy="283464"/>
          </a:xfrm>
          <a:prstGeom prst="rect">
            <a:avLst/>
          </a:prstGeom>
        </p:spPr>
      </p:pic>
      <p:sp>
        <p:nvSpPr>
          <p:cNvPr id="17" name="Text 12"/>
          <p:cNvSpPr/>
          <p:nvPr/>
        </p:nvSpPr>
        <p:spPr>
          <a:xfrm>
            <a:off x="8449056" y="2441448"/>
            <a:ext cx="3127248" cy="365760"/>
          </a:xfrm>
          <a:prstGeom prst="rect">
            <a:avLst/>
          </a:prstGeom>
          <a:noFill/>
          <a:ln/>
        </p:spPr>
        <p:txBody>
          <a:bodyPr wrap="square" lIns="0" tIns="0" rIns="0" bIns="0" rtlCol="0" anchor="ctr"/>
          <a:lstStyle/>
          <a:p>
            <a:pPr marL="0" indent="0">
              <a:buNone/>
            </a:pPr>
            <a:r>
              <a:rPr lang="en-US" sz="1350" b="1" dirty="0">
                <a:solidFill>
                  <a:srgbClr val="23253B"/>
                </a:solidFill>
                <a:latin typeface="Calibri" pitchFamily="34" charset="0"/>
                <a:ea typeface="Calibri" pitchFamily="34" charset="-122"/>
                <a:cs typeface="Calibri" pitchFamily="34" charset="-120"/>
              </a:rPr>
              <a:t>Column standardization</a:t>
            </a:r>
            <a:endParaRPr lang="en-US" sz="1350" dirty="0"/>
          </a:p>
        </p:txBody>
      </p:sp>
      <p:sp>
        <p:nvSpPr>
          <p:cNvPr id="18" name="Text 13"/>
          <p:cNvSpPr/>
          <p:nvPr/>
        </p:nvSpPr>
        <p:spPr>
          <a:xfrm>
            <a:off x="8449056" y="2788920"/>
            <a:ext cx="3127248" cy="685800"/>
          </a:xfrm>
          <a:prstGeom prst="rect">
            <a:avLst/>
          </a:prstGeom>
          <a:noFill/>
          <a:ln/>
        </p:spPr>
        <p:txBody>
          <a:bodyPr wrap="square" lIns="0" tIns="0" rIns="0" bIns="0" rtlCol="0" anchor="ctr"/>
          <a:lstStyle/>
          <a:p>
            <a:pPr marL="0" indent="0">
              <a:lnSpc>
                <a:spcPct val="122000"/>
              </a:lnSpc>
              <a:buNone/>
            </a:pPr>
            <a:r>
              <a:rPr lang="en-US" sz="1080" dirty="0">
                <a:solidFill>
                  <a:srgbClr val="6B7280"/>
                </a:solidFill>
                <a:latin typeface="Calibri" pitchFamily="34" charset="0"/>
                <a:ea typeface="Calibri" pitchFamily="34" charset="-122"/>
                <a:cs typeface="Calibri" pitchFamily="34" charset="-120"/>
              </a:rPr>
              <a:t>Renamed all fields to snake_case for consistent, query-ready documentation.</a:t>
            </a:r>
            <a:endParaRPr lang="en-US" sz="1080" dirty="0"/>
          </a:p>
        </p:txBody>
      </p:sp>
      <p:sp>
        <p:nvSpPr>
          <p:cNvPr id="19" name="Shape 14"/>
          <p:cNvSpPr/>
          <p:nvPr/>
        </p:nvSpPr>
        <p:spPr>
          <a:xfrm>
            <a:off x="548640" y="3794760"/>
            <a:ext cx="3639312" cy="1965960"/>
          </a:xfrm>
          <a:prstGeom prst="roundRect">
            <a:avLst>
              <a:gd name="adj" fmla="val 4186"/>
            </a:avLst>
          </a:prstGeom>
          <a:solidFill>
            <a:srgbClr val="FFFFFF"/>
          </a:solidFill>
          <a:ln w="12700">
            <a:solidFill>
              <a:srgbClr val="E4E2D8"/>
            </a:solidFill>
            <a:prstDash val="solid"/>
          </a:ln>
          <a:effectLst>
            <a:outerShdw blurRad="63500" dist="25400" dir="5400000" algn="bl" rotWithShape="0">
              <a:srgbClr val="1F2937">
                <a:alpha val="8000"/>
              </a:srgbClr>
            </a:outerShdw>
          </a:effectLst>
        </p:spPr>
        <p:txBody>
          <a:bodyPr/>
          <a:lstStyle/>
          <a:p>
            <a:endParaRPr lang="en-US"/>
          </a:p>
        </p:txBody>
      </p:sp>
      <p:sp>
        <p:nvSpPr>
          <p:cNvPr id="20" name="Shape 15"/>
          <p:cNvSpPr/>
          <p:nvPr/>
        </p:nvSpPr>
        <p:spPr>
          <a:xfrm>
            <a:off x="722376" y="3968496"/>
            <a:ext cx="566928" cy="566928"/>
          </a:xfrm>
          <a:prstGeom prst="ellipse">
            <a:avLst/>
          </a:prstGeom>
          <a:solidFill>
            <a:srgbClr val="F96167"/>
          </a:solidFill>
          <a:ln/>
        </p:spPr>
        <p:txBody>
          <a:bodyPr/>
          <a:lstStyle/>
          <a:p>
            <a:endParaRPr lang="en-US"/>
          </a:p>
        </p:txBody>
      </p:sp>
      <p:pic>
        <p:nvPicPr>
          <p:cNvPr id="21" name="Image 3" descr="icons_puzzle.png"/>
          <p:cNvPicPr>
            <a:picLocks noChangeAspect="1"/>
          </p:cNvPicPr>
          <p:nvPr/>
        </p:nvPicPr>
        <p:blipFill>
          <a:blip r:embed="rId6"/>
          <a:stretch>
            <a:fillRect/>
          </a:stretch>
        </p:blipFill>
        <p:spPr>
          <a:xfrm>
            <a:off x="864108" y="4110228"/>
            <a:ext cx="283464" cy="283464"/>
          </a:xfrm>
          <a:prstGeom prst="rect">
            <a:avLst/>
          </a:prstGeom>
        </p:spPr>
      </p:pic>
      <p:sp>
        <p:nvSpPr>
          <p:cNvPr id="22" name="Text 16"/>
          <p:cNvSpPr/>
          <p:nvPr/>
        </p:nvSpPr>
        <p:spPr>
          <a:xfrm>
            <a:off x="804672" y="4636008"/>
            <a:ext cx="3127248" cy="365760"/>
          </a:xfrm>
          <a:prstGeom prst="rect">
            <a:avLst/>
          </a:prstGeom>
          <a:noFill/>
          <a:ln/>
        </p:spPr>
        <p:txBody>
          <a:bodyPr wrap="square" lIns="0" tIns="0" rIns="0" bIns="0" rtlCol="0" anchor="ctr"/>
          <a:lstStyle/>
          <a:p>
            <a:pPr marL="0" indent="0">
              <a:buNone/>
            </a:pPr>
            <a:r>
              <a:rPr lang="en-US" sz="1350" b="1" dirty="0">
                <a:solidFill>
                  <a:srgbClr val="23253B"/>
                </a:solidFill>
                <a:latin typeface="Calibri" pitchFamily="34" charset="0"/>
                <a:ea typeface="Calibri" pitchFamily="34" charset="-122"/>
                <a:cs typeface="Calibri" pitchFamily="34" charset="-120"/>
              </a:rPr>
              <a:t>Feature engineering</a:t>
            </a:r>
            <a:endParaRPr lang="en-US" sz="1350" dirty="0"/>
          </a:p>
        </p:txBody>
      </p:sp>
      <p:sp>
        <p:nvSpPr>
          <p:cNvPr id="23" name="Text 17"/>
          <p:cNvSpPr/>
          <p:nvPr/>
        </p:nvSpPr>
        <p:spPr>
          <a:xfrm>
            <a:off x="804672" y="4983480"/>
            <a:ext cx="3127248" cy="685800"/>
          </a:xfrm>
          <a:prstGeom prst="rect">
            <a:avLst/>
          </a:prstGeom>
          <a:noFill/>
          <a:ln/>
        </p:spPr>
        <p:txBody>
          <a:bodyPr wrap="square" lIns="0" tIns="0" rIns="0" bIns="0" rtlCol="0" anchor="ctr"/>
          <a:lstStyle/>
          <a:p>
            <a:pPr marL="0" indent="0">
              <a:lnSpc>
                <a:spcPct val="122000"/>
              </a:lnSpc>
              <a:buNone/>
            </a:pPr>
            <a:r>
              <a:rPr lang="en-US" sz="1080" dirty="0">
                <a:solidFill>
                  <a:srgbClr val="6B7280"/>
                </a:solidFill>
                <a:latin typeface="Calibri" pitchFamily="34" charset="0"/>
                <a:ea typeface="Calibri" pitchFamily="34" charset="-122"/>
                <a:cs typeface="Calibri" pitchFamily="34" charset="-120"/>
              </a:rPr>
              <a:t>Built age_group bins and a purchase_frequency_days field from raw purchase data.</a:t>
            </a:r>
            <a:endParaRPr lang="en-US" sz="1080" dirty="0"/>
          </a:p>
        </p:txBody>
      </p:sp>
      <p:sp>
        <p:nvSpPr>
          <p:cNvPr id="24" name="Shape 18"/>
          <p:cNvSpPr/>
          <p:nvPr/>
        </p:nvSpPr>
        <p:spPr>
          <a:xfrm>
            <a:off x="4370832" y="3794760"/>
            <a:ext cx="3639312" cy="1965960"/>
          </a:xfrm>
          <a:prstGeom prst="roundRect">
            <a:avLst>
              <a:gd name="adj" fmla="val 4186"/>
            </a:avLst>
          </a:prstGeom>
          <a:solidFill>
            <a:srgbClr val="FFFFFF"/>
          </a:solidFill>
          <a:ln w="12700">
            <a:solidFill>
              <a:srgbClr val="E4E2D8"/>
            </a:solidFill>
            <a:prstDash val="solid"/>
          </a:ln>
          <a:effectLst>
            <a:outerShdw blurRad="63500" dist="25400" dir="5400000" algn="bl" rotWithShape="0">
              <a:srgbClr val="1F2937">
                <a:alpha val="8000"/>
              </a:srgbClr>
            </a:outerShdw>
          </a:effectLst>
        </p:spPr>
        <p:txBody>
          <a:bodyPr/>
          <a:lstStyle/>
          <a:p>
            <a:endParaRPr lang="en-US"/>
          </a:p>
        </p:txBody>
      </p:sp>
      <p:sp>
        <p:nvSpPr>
          <p:cNvPr id="25" name="Shape 19"/>
          <p:cNvSpPr/>
          <p:nvPr/>
        </p:nvSpPr>
        <p:spPr>
          <a:xfrm>
            <a:off x="4544568" y="3968496"/>
            <a:ext cx="566928" cy="566928"/>
          </a:xfrm>
          <a:prstGeom prst="ellipse">
            <a:avLst/>
          </a:prstGeom>
          <a:solidFill>
            <a:srgbClr val="2F3C7E"/>
          </a:solidFill>
          <a:ln/>
        </p:spPr>
        <p:txBody>
          <a:bodyPr/>
          <a:lstStyle/>
          <a:p>
            <a:endParaRPr lang="en-US"/>
          </a:p>
        </p:txBody>
      </p:sp>
      <p:pic>
        <p:nvPicPr>
          <p:cNvPr id="26" name="Image 4" descr="icons_percent.png"/>
          <p:cNvPicPr>
            <a:picLocks noChangeAspect="1"/>
          </p:cNvPicPr>
          <p:nvPr/>
        </p:nvPicPr>
        <p:blipFill>
          <a:blip r:embed="rId7"/>
          <a:stretch>
            <a:fillRect/>
          </a:stretch>
        </p:blipFill>
        <p:spPr>
          <a:xfrm>
            <a:off x="4686300" y="4110228"/>
            <a:ext cx="283464" cy="283464"/>
          </a:xfrm>
          <a:prstGeom prst="rect">
            <a:avLst/>
          </a:prstGeom>
        </p:spPr>
      </p:pic>
      <p:sp>
        <p:nvSpPr>
          <p:cNvPr id="27" name="Text 20"/>
          <p:cNvSpPr/>
          <p:nvPr/>
        </p:nvSpPr>
        <p:spPr>
          <a:xfrm>
            <a:off x="4626864" y="4636008"/>
            <a:ext cx="3127248" cy="365760"/>
          </a:xfrm>
          <a:prstGeom prst="rect">
            <a:avLst/>
          </a:prstGeom>
          <a:noFill/>
          <a:ln/>
        </p:spPr>
        <p:txBody>
          <a:bodyPr wrap="square" lIns="0" tIns="0" rIns="0" bIns="0" rtlCol="0" anchor="ctr"/>
          <a:lstStyle/>
          <a:p>
            <a:pPr marL="0" indent="0">
              <a:buNone/>
            </a:pPr>
            <a:r>
              <a:rPr lang="en-US" sz="1350" b="1" dirty="0">
                <a:solidFill>
                  <a:srgbClr val="23253B"/>
                </a:solidFill>
                <a:latin typeface="Calibri" pitchFamily="34" charset="0"/>
                <a:ea typeface="Calibri" pitchFamily="34" charset="-122"/>
                <a:cs typeface="Calibri" pitchFamily="34" charset="-120"/>
              </a:rPr>
              <a:t>Consistency checks</a:t>
            </a:r>
            <a:endParaRPr lang="en-US" sz="1350" dirty="0"/>
          </a:p>
        </p:txBody>
      </p:sp>
      <p:sp>
        <p:nvSpPr>
          <p:cNvPr id="28" name="Text 21"/>
          <p:cNvSpPr/>
          <p:nvPr/>
        </p:nvSpPr>
        <p:spPr>
          <a:xfrm>
            <a:off x="4626864" y="4983480"/>
            <a:ext cx="3127248" cy="685800"/>
          </a:xfrm>
          <a:prstGeom prst="rect">
            <a:avLst/>
          </a:prstGeom>
          <a:noFill/>
          <a:ln/>
        </p:spPr>
        <p:txBody>
          <a:bodyPr wrap="square" lIns="0" tIns="0" rIns="0" bIns="0" rtlCol="0" anchor="ctr"/>
          <a:lstStyle/>
          <a:p>
            <a:pPr marL="0" indent="0">
              <a:lnSpc>
                <a:spcPct val="122000"/>
              </a:lnSpc>
              <a:buNone/>
            </a:pPr>
            <a:r>
              <a:rPr lang="en-US" sz="1080" dirty="0">
                <a:solidFill>
                  <a:srgbClr val="6B7280"/>
                </a:solidFill>
                <a:latin typeface="Calibri" pitchFamily="34" charset="0"/>
                <a:ea typeface="Calibri" pitchFamily="34" charset="-122"/>
                <a:cs typeface="Calibri" pitchFamily="34" charset="-120"/>
              </a:rPr>
              <a:t>Tested discount_applied against promo_code_used; dropped the redundant column.</a:t>
            </a:r>
            <a:endParaRPr lang="en-US" sz="1080" dirty="0"/>
          </a:p>
        </p:txBody>
      </p:sp>
      <p:sp>
        <p:nvSpPr>
          <p:cNvPr id="29" name="Shape 22"/>
          <p:cNvSpPr/>
          <p:nvPr/>
        </p:nvSpPr>
        <p:spPr>
          <a:xfrm>
            <a:off x="8193024" y="3794760"/>
            <a:ext cx="3639312" cy="1965960"/>
          </a:xfrm>
          <a:prstGeom prst="roundRect">
            <a:avLst>
              <a:gd name="adj" fmla="val 4186"/>
            </a:avLst>
          </a:prstGeom>
          <a:solidFill>
            <a:srgbClr val="FFFFFF"/>
          </a:solidFill>
          <a:ln w="12700">
            <a:solidFill>
              <a:srgbClr val="E4E2D8"/>
            </a:solidFill>
            <a:prstDash val="solid"/>
          </a:ln>
          <a:effectLst>
            <a:outerShdw blurRad="63500" dist="25400" dir="5400000" algn="bl" rotWithShape="0">
              <a:srgbClr val="1F2937">
                <a:alpha val="8000"/>
              </a:srgbClr>
            </a:outerShdw>
          </a:effectLst>
        </p:spPr>
        <p:txBody>
          <a:bodyPr/>
          <a:lstStyle/>
          <a:p>
            <a:endParaRPr lang="en-US"/>
          </a:p>
        </p:txBody>
      </p:sp>
      <p:sp>
        <p:nvSpPr>
          <p:cNvPr id="30" name="Shape 23"/>
          <p:cNvSpPr/>
          <p:nvPr/>
        </p:nvSpPr>
        <p:spPr>
          <a:xfrm>
            <a:off x="8366760" y="3968496"/>
            <a:ext cx="566928" cy="566928"/>
          </a:xfrm>
          <a:prstGeom prst="ellipse">
            <a:avLst/>
          </a:prstGeom>
          <a:solidFill>
            <a:srgbClr val="F96167"/>
          </a:solidFill>
          <a:ln/>
        </p:spPr>
        <p:txBody>
          <a:bodyPr/>
          <a:lstStyle/>
          <a:p>
            <a:endParaRPr lang="en-US"/>
          </a:p>
        </p:txBody>
      </p:sp>
      <p:pic>
        <p:nvPicPr>
          <p:cNvPr id="31" name="Image 5" descr="icons_server.png"/>
          <p:cNvPicPr>
            <a:picLocks noChangeAspect="1"/>
          </p:cNvPicPr>
          <p:nvPr/>
        </p:nvPicPr>
        <p:blipFill>
          <a:blip r:embed="rId8"/>
          <a:stretch>
            <a:fillRect/>
          </a:stretch>
        </p:blipFill>
        <p:spPr>
          <a:xfrm>
            <a:off x="8508492" y="4110228"/>
            <a:ext cx="283464" cy="283464"/>
          </a:xfrm>
          <a:prstGeom prst="rect">
            <a:avLst/>
          </a:prstGeom>
        </p:spPr>
      </p:pic>
      <p:sp>
        <p:nvSpPr>
          <p:cNvPr id="32" name="Text 24"/>
          <p:cNvSpPr/>
          <p:nvPr/>
        </p:nvSpPr>
        <p:spPr>
          <a:xfrm>
            <a:off x="8449056" y="4636008"/>
            <a:ext cx="3127248" cy="365760"/>
          </a:xfrm>
          <a:prstGeom prst="rect">
            <a:avLst/>
          </a:prstGeom>
          <a:noFill/>
          <a:ln/>
        </p:spPr>
        <p:txBody>
          <a:bodyPr wrap="square" lIns="0" tIns="0" rIns="0" bIns="0" rtlCol="0" anchor="ctr"/>
          <a:lstStyle/>
          <a:p>
            <a:pPr marL="0" indent="0">
              <a:buNone/>
            </a:pPr>
            <a:r>
              <a:rPr lang="en-US" sz="1350" b="1" dirty="0">
                <a:solidFill>
                  <a:srgbClr val="23253B"/>
                </a:solidFill>
                <a:latin typeface="Calibri" pitchFamily="34" charset="0"/>
                <a:ea typeface="Calibri" pitchFamily="34" charset="-122"/>
                <a:cs typeface="Calibri" pitchFamily="34" charset="-120"/>
              </a:rPr>
              <a:t>Database integration</a:t>
            </a:r>
            <a:endParaRPr lang="en-US" sz="1350" dirty="0"/>
          </a:p>
        </p:txBody>
      </p:sp>
      <p:sp>
        <p:nvSpPr>
          <p:cNvPr id="33" name="Text 25"/>
          <p:cNvSpPr/>
          <p:nvPr/>
        </p:nvSpPr>
        <p:spPr>
          <a:xfrm>
            <a:off x="8449056" y="4983480"/>
            <a:ext cx="3127248" cy="685800"/>
          </a:xfrm>
          <a:prstGeom prst="rect">
            <a:avLst/>
          </a:prstGeom>
          <a:noFill/>
          <a:ln/>
        </p:spPr>
        <p:txBody>
          <a:bodyPr wrap="square" lIns="0" tIns="0" rIns="0" bIns="0" rtlCol="0" anchor="ctr"/>
          <a:lstStyle/>
          <a:p>
            <a:pPr marL="0" indent="0">
              <a:lnSpc>
                <a:spcPct val="122000"/>
              </a:lnSpc>
              <a:buNone/>
            </a:pPr>
            <a:r>
              <a:rPr lang="en-US" sz="1080" dirty="0">
                <a:solidFill>
                  <a:srgbClr val="6B7280"/>
                </a:solidFill>
                <a:latin typeface="Calibri" pitchFamily="34" charset="0"/>
                <a:ea typeface="Calibri" pitchFamily="34" charset="-122"/>
                <a:cs typeface="Calibri" pitchFamily="34" charset="-120"/>
              </a:rPr>
              <a:t>Loaded the cleaned DataFrame into PostgreSQL to power the SQL analysis stage.</a:t>
            </a:r>
            <a:endParaRPr lang="en-US" sz="1080" dirty="0"/>
          </a:p>
        </p:txBody>
      </p:sp>
      <p:sp>
        <p:nvSpPr>
          <p:cNvPr id="34" name="Text 26"/>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SQL ANALYSIS — POSTGRESQL</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000" b="1" dirty="0">
                <a:solidFill>
                  <a:srgbClr val="23253B"/>
                </a:solidFill>
                <a:latin typeface="Cambria" pitchFamily="34" charset="0"/>
                <a:ea typeface="Cambria" pitchFamily="34" charset="-122"/>
                <a:cs typeface="Cambria" pitchFamily="34" charset="-120"/>
              </a:rPr>
              <a:t>Revenue splits by gender and subscription</a:t>
            </a:r>
            <a:endParaRPr lang="en-US" sz="3000" dirty="0"/>
          </a:p>
        </p:txBody>
      </p:sp>
      <p:sp>
        <p:nvSpPr>
          <p:cNvPr id="4" name="Text 2"/>
          <p:cNvSpPr/>
          <p:nvPr/>
        </p:nvSpPr>
        <p:spPr>
          <a:xfrm>
            <a:off x="548640" y="1508760"/>
            <a:ext cx="5120640" cy="320040"/>
          </a:xfrm>
          <a:prstGeom prst="rect">
            <a:avLst/>
          </a:prstGeom>
          <a:noFill/>
          <a:ln/>
        </p:spPr>
        <p:txBody>
          <a:bodyPr wrap="square" rtlCol="0" anchor="ctr"/>
          <a:lstStyle/>
          <a:p>
            <a:pPr marL="0" indent="0">
              <a:buNone/>
            </a:pPr>
            <a:r>
              <a:rPr lang="en-US" sz="1400" b="1" dirty="0">
                <a:solidFill>
                  <a:srgbClr val="23253B"/>
                </a:solidFill>
                <a:latin typeface="Calibri" pitchFamily="34" charset="0"/>
                <a:ea typeface="Calibri" pitchFamily="34" charset="-122"/>
                <a:cs typeface="Calibri" pitchFamily="34" charset="-120"/>
              </a:rPr>
              <a:t>Revenue by Gender</a:t>
            </a:r>
            <a:endParaRPr lang="en-US" sz="1400" dirty="0"/>
          </a:p>
        </p:txBody>
      </p:sp>
      <p:graphicFrame>
        <p:nvGraphicFramePr>
          <p:cNvPr id="5" name="Chart 0"/>
          <p:cNvGraphicFramePr/>
          <p:nvPr/>
        </p:nvGraphicFramePr>
        <p:xfrm>
          <a:off x="548640" y="1874520"/>
          <a:ext cx="521208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48640" y="4251960"/>
            <a:ext cx="5212080" cy="685800"/>
          </a:xfrm>
          <a:prstGeom prst="rect">
            <a:avLst/>
          </a:prstGeom>
          <a:noFill/>
          <a:ln/>
        </p:spPr>
        <p:txBody>
          <a:bodyPr wrap="square" rtlCol="0" anchor="ctr"/>
          <a:lstStyle/>
          <a:p>
            <a:pPr marL="0" indent="0">
              <a:lnSpc>
                <a:spcPct val="125000"/>
              </a:lnSpc>
              <a:buNone/>
            </a:pPr>
            <a:r>
              <a:rPr lang="en-US" sz="1150" i="1" dirty="0">
                <a:solidFill>
                  <a:srgbClr val="6B7280"/>
                </a:solidFill>
                <a:latin typeface="Calibri" pitchFamily="34" charset="0"/>
                <a:ea typeface="Calibri" pitchFamily="34" charset="-122"/>
                <a:cs typeface="Calibri" pitchFamily="34" charset="-120"/>
              </a:rPr>
              <a:t>Male shoppers generate over 2× the revenue of female shoppers in this dataset — a strong signal for gender-targeted merchandising.</a:t>
            </a:r>
            <a:endParaRPr lang="en-US" sz="1150" dirty="0"/>
          </a:p>
        </p:txBody>
      </p:sp>
      <p:sp>
        <p:nvSpPr>
          <p:cNvPr id="7" name="Shape 4"/>
          <p:cNvSpPr/>
          <p:nvPr/>
        </p:nvSpPr>
        <p:spPr>
          <a:xfrm>
            <a:off x="6126480" y="1508760"/>
            <a:ext cx="5532120" cy="4526280"/>
          </a:xfrm>
          <a:prstGeom prst="roundRect">
            <a:avLst>
              <a:gd name="adj" fmla="val 2020"/>
            </a:avLst>
          </a:prstGeom>
          <a:solidFill>
            <a:srgbClr val="FDF8E4"/>
          </a:solidFill>
          <a:ln/>
        </p:spPr>
        <p:txBody>
          <a:bodyPr/>
          <a:lstStyle/>
          <a:p>
            <a:endParaRPr lang="en-US"/>
          </a:p>
        </p:txBody>
      </p:sp>
      <p:sp>
        <p:nvSpPr>
          <p:cNvPr id="8" name="Text 5"/>
          <p:cNvSpPr/>
          <p:nvPr/>
        </p:nvSpPr>
        <p:spPr>
          <a:xfrm>
            <a:off x="6400800" y="1737360"/>
            <a:ext cx="5029200" cy="365760"/>
          </a:xfrm>
          <a:prstGeom prst="rect">
            <a:avLst/>
          </a:prstGeom>
          <a:noFill/>
          <a:ln/>
        </p:spPr>
        <p:txBody>
          <a:bodyPr wrap="square" rtlCol="0" anchor="ctr"/>
          <a:lstStyle/>
          <a:p>
            <a:pPr marL="0" indent="0">
              <a:buNone/>
            </a:pPr>
            <a:r>
              <a:rPr lang="en-US" sz="1400" b="1" dirty="0">
                <a:solidFill>
                  <a:srgbClr val="23253B"/>
                </a:solidFill>
                <a:latin typeface="Calibri" pitchFamily="34" charset="0"/>
                <a:ea typeface="Calibri" pitchFamily="34" charset="-122"/>
                <a:cs typeface="Calibri" pitchFamily="34" charset="-120"/>
              </a:rPr>
              <a:t>Subscribers vs. Non-Subscribers</a:t>
            </a:r>
            <a:endParaRPr lang="en-US" sz="1400" dirty="0"/>
          </a:p>
        </p:txBody>
      </p:sp>
      <p:sp>
        <p:nvSpPr>
          <p:cNvPr id="9" name="Text 6"/>
          <p:cNvSpPr/>
          <p:nvPr/>
        </p:nvSpPr>
        <p:spPr>
          <a:xfrm>
            <a:off x="6400800" y="2240280"/>
            <a:ext cx="5029200" cy="18288"/>
          </a:xfrm>
          <a:prstGeom prst="rect">
            <a:avLst/>
          </a:prstGeom>
          <a:noFill/>
          <a:ln/>
        </p:spPr>
        <p:txBody>
          <a:bodyPr wrap="square" rtlCol="0" anchor="ctr"/>
          <a:lstStyle/>
          <a:p>
            <a:pPr marL="0" indent="0">
              <a:buNone/>
            </a:pPr>
            <a:endParaRPr lang="en-US" dirty="0"/>
          </a:p>
        </p:txBody>
      </p:sp>
      <p:sp>
        <p:nvSpPr>
          <p:cNvPr id="10" name="Text 7"/>
          <p:cNvSpPr/>
          <p:nvPr/>
        </p:nvSpPr>
        <p:spPr>
          <a:xfrm>
            <a:off x="7818120" y="2240280"/>
            <a:ext cx="1737360" cy="274320"/>
          </a:xfrm>
          <a:prstGeom prst="rect">
            <a:avLst/>
          </a:prstGeom>
          <a:noFill/>
          <a:ln/>
        </p:spPr>
        <p:txBody>
          <a:bodyPr wrap="square" rtlCol="0" anchor="ctr"/>
          <a:lstStyle/>
          <a:p>
            <a:pPr marL="0" indent="0" algn="ctr">
              <a:buNone/>
            </a:pPr>
            <a:r>
              <a:rPr lang="en-US" sz="1150" b="1" dirty="0">
                <a:solidFill>
                  <a:srgbClr val="2F3C7E"/>
                </a:solidFill>
                <a:latin typeface="Calibri" pitchFamily="34" charset="0"/>
                <a:ea typeface="Calibri" pitchFamily="34" charset="-122"/>
                <a:cs typeface="Calibri" pitchFamily="34" charset="-120"/>
              </a:rPr>
              <a:t>Subscribed</a:t>
            </a:r>
            <a:endParaRPr lang="en-US" sz="1150" dirty="0"/>
          </a:p>
        </p:txBody>
      </p:sp>
      <p:sp>
        <p:nvSpPr>
          <p:cNvPr id="11" name="Text 8"/>
          <p:cNvSpPr/>
          <p:nvPr/>
        </p:nvSpPr>
        <p:spPr>
          <a:xfrm>
            <a:off x="9555480" y="2240280"/>
            <a:ext cx="1874520" cy="274320"/>
          </a:xfrm>
          <a:prstGeom prst="rect">
            <a:avLst/>
          </a:prstGeom>
          <a:noFill/>
          <a:ln/>
        </p:spPr>
        <p:txBody>
          <a:bodyPr wrap="square" rtlCol="0" anchor="ctr"/>
          <a:lstStyle/>
          <a:p>
            <a:pPr marL="0" indent="0" algn="ctr">
              <a:buNone/>
            </a:pPr>
            <a:r>
              <a:rPr lang="en-US" sz="1150" b="1" dirty="0">
                <a:solidFill>
                  <a:srgbClr val="F96167"/>
                </a:solidFill>
                <a:latin typeface="Calibri" pitchFamily="34" charset="0"/>
                <a:ea typeface="Calibri" pitchFamily="34" charset="-122"/>
                <a:cs typeface="Calibri" pitchFamily="34" charset="-120"/>
              </a:rPr>
              <a:t>Not subscribed</a:t>
            </a:r>
            <a:endParaRPr lang="en-US" sz="1150" dirty="0"/>
          </a:p>
        </p:txBody>
      </p:sp>
      <p:sp>
        <p:nvSpPr>
          <p:cNvPr id="12" name="Shape 9"/>
          <p:cNvSpPr/>
          <p:nvPr/>
        </p:nvSpPr>
        <p:spPr>
          <a:xfrm>
            <a:off x="6400800" y="2606040"/>
            <a:ext cx="4983480" cy="0"/>
          </a:xfrm>
          <a:prstGeom prst="line">
            <a:avLst/>
          </a:prstGeom>
          <a:noFill/>
          <a:ln w="12700">
            <a:solidFill>
              <a:srgbClr val="E4E2D8"/>
            </a:solidFill>
            <a:prstDash val="solid"/>
          </a:ln>
        </p:spPr>
        <p:txBody>
          <a:bodyPr/>
          <a:lstStyle/>
          <a:p>
            <a:endParaRPr lang="en-US"/>
          </a:p>
        </p:txBody>
      </p:sp>
      <p:sp>
        <p:nvSpPr>
          <p:cNvPr id="13" name="Text 10"/>
          <p:cNvSpPr/>
          <p:nvPr/>
        </p:nvSpPr>
        <p:spPr>
          <a:xfrm>
            <a:off x="6400800" y="2679192"/>
            <a:ext cx="1371600" cy="45720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Customers</a:t>
            </a:r>
            <a:endParaRPr lang="en-US" sz="1250" dirty="0"/>
          </a:p>
        </p:txBody>
      </p:sp>
      <p:sp>
        <p:nvSpPr>
          <p:cNvPr id="14" name="Text 11"/>
          <p:cNvSpPr/>
          <p:nvPr/>
        </p:nvSpPr>
        <p:spPr>
          <a:xfrm>
            <a:off x="7818120" y="2679192"/>
            <a:ext cx="1737360" cy="457200"/>
          </a:xfrm>
          <a:prstGeom prst="rect">
            <a:avLst/>
          </a:prstGeom>
          <a:noFill/>
          <a:ln/>
        </p:spPr>
        <p:txBody>
          <a:bodyPr wrap="square" rtlCol="0" anchor="ctr"/>
          <a:lstStyle/>
          <a:p>
            <a:pPr marL="0" indent="0" algn="ctr">
              <a:buNone/>
            </a:pPr>
            <a:r>
              <a:rPr lang="en-US" sz="1700" b="1" dirty="0">
                <a:solidFill>
                  <a:srgbClr val="2F3C7E"/>
                </a:solidFill>
                <a:latin typeface="Cambria" pitchFamily="34" charset="0"/>
                <a:ea typeface="Cambria" pitchFamily="34" charset="-122"/>
                <a:cs typeface="Cambria" pitchFamily="34" charset="-120"/>
              </a:rPr>
              <a:t>1,053</a:t>
            </a:r>
            <a:endParaRPr lang="en-US" sz="1700" dirty="0"/>
          </a:p>
        </p:txBody>
      </p:sp>
      <p:sp>
        <p:nvSpPr>
          <p:cNvPr id="15" name="Text 12"/>
          <p:cNvSpPr/>
          <p:nvPr/>
        </p:nvSpPr>
        <p:spPr>
          <a:xfrm>
            <a:off x="9555480" y="2679192"/>
            <a:ext cx="1874520" cy="457200"/>
          </a:xfrm>
          <a:prstGeom prst="rect">
            <a:avLst/>
          </a:prstGeom>
          <a:noFill/>
          <a:ln/>
        </p:spPr>
        <p:txBody>
          <a:bodyPr wrap="square" rtlCol="0" anchor="ctr"/>
          <a:lstStyle/>
          <a:p>
            <a:pPr marL="0" indent="0" algn="ctr">
              <a:buNone/>
            </a:pPr>
            <a:r>
              <a:rPr lang="en-US" sz="1700" b="1" dirty="0">
                <a:solidFill>
                  <a:srgbClr val="F96167"/>
                </a:solidFill>
                <a:latin typeface="Cambria" pitchFamily="34" charset="0"/>
                <a:ea typeface="Cambria" pitchFamily="34" charset="-122"/>
                <a:cs typeface="Cambria" pitchFamily="34" charset="-120"/>
              </a:rPr>
              <a:t>2,847</a:t>
            </a:r>
            <a:endParaRPr lang="en-US" sz="1700" dirty="0"/>
          </a:p>
        </p:txBody>
      </p:sp>
      <p:sp>
        <p:nvSpPr>
          <p:cNvPr id="16" name="Shape 13"/>
          <p:cNvSpPr/>
          <p:nvPr/>
        </p:nvSpPr>
        <p:spPr>
          <a:xfrm>
            <a:off x="6400800" y="3200400"/>
            <a:ext cx="4983480" cy="0"/>
          </a:xfrm>
          <a:prstGeom prst="line">
            <a:avLst/>
          </a:prstGeom>
          <a:noFill/>
          <a:ln w="12700">
            <a:solidFill>
              <a:srgbClr val="E4E2D8"/>
            </a:solidFill>
            <a:prstDash val="solid"/>
          </a:ln>
        </p:spPr>
        <p:txBody>
          <a:bodyPr/>
          <a:lstStyle/>
          <a:p>
            <a:endParaRPr lang="en-US"/>
          </a:p>
        </p:txBody>
      </p:sp>
      <p:sp>
        <p:nvSpPr>
          <p:cNvPr id="17" name="Text 14"/>
          <p:cNvSpPr/>
          <p:nvPr/>
        </p:nvSpPr>
        <p:spPr>
          <a:xfrm>
            <a:off x="6400800" y="3273552"/>
            <a:ext cx="1371600" cy="45720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Avg. spend</a:t>
            </a:r>
            <a:endParaRPr lang="en-US" sz="1250" dirty="0"/>
          </a:p>
        </p:txBody>
      </p:sp>
      <p:sp>
        <p:nvSpPr>
          <p:cNvPr id="18" name="Text 15"/>
          <p:cNvSpPr/>
          <p:nvPr/>
        </p:nvSpPr>
        <p:spPr>
          <a:xfrm>
            <a:off x="7818120" y="3273552"/>
            <a:ext cx="1737360" cy="457200"/>
          </a:xfrm>
          <a:prstGeom prst="rect">
            <a:avLst/>
          </a:prstGeom>
          <a:noFill/>
          <a:ln/>
        </p:spPr>
        <p:txBody>
          <a:bodyPr wrap="square" rtlCol="0" anchor="ctr"/>
          <a:lstStyle/>
          <a:p>
            <a:pPr marL="0" indent="0" algn="ctr">
              <a:buNone/>
            </a:pPr>
            <a:r>
              <a:rPr lang="en-US" sz="1700" b="1" dirty="0">
                <a:solidFill>
                  <a:srgbClr val="2F3C7E"/>
                </a:solidFill>
                <a:latin typeface="Cambria" pitchFamily="34" charset="0"/>
                <a:ea typeface="Cambria" pitchFamily="34" charset="-122"/>
                <a:cs typeface="Cambria" pitchFamily="34" charset="-120"/>
              </a:rPr>
              <a:t>$59.49</a:t>
            </a:r>
            <a:endParaRPr lang="en-US" sz="1700" dirty="0"/>
          </a:p>
        </p:txBody>
      </p:sp>
      <p:sp>
        <p:nvSpPr>
          <p:cNvPr id="19" name="Text 16"/>
          <p:cNvSpPr/>
          <p:nvPr/>
        </p:nvSpPr>
        <p:spPr>
          <a:xfrm>
            <a:off x="9555480" y="3273552"/>
            <a:ext cx="1874520" cy="457200"/>
          </a:xfrm>
          <a:prstGeom prst="rect">
            <a:avLst/>
          </a:prstGeom>
          <a:noFill/>
          <a:ln/>
        </p:spPr>
        <p:txBody>
          <a:bodyPr wrap="square" rtlCol="0" anchor="ctr"/>
          <a:lstStyle/>
          <a:p>
            <a:pPr marL="0" indent="0" algn="ctr">
              <a:buNone/>
            </a:pPr>
            <a:r>
              <a:rPr lang="en-US" sz="1700" b="1" dirty="0">
                <a:solidFill>
                  <a:srgbClr val="F96167"/>
                </a:solidFill>
                <a:latin typeface="Cambria" pitchFamily="34" charset="0"/>
                <a:ea typeface="Cambria" pitchFamily="34" charset="-122"/>
                <a:cs typeface="Cambria" pitchFamily="34" charset="-120"/>
              </a:rPr>
              <a:t>$59.87</a:t>
            </a:r>
            <a:endParaRPr lang="en-US" sz="1700" dirty="0"/>
          </a:p>
        </p:txBody>
      </p:sp>
      <p:sp>
        <p:nvSpPr>
          <p:cNvPr id="20" name="Shape 17"/>
          <p:cNvSpPr/>
          <p:nvPr/>
        </p:nvSpPr>
        <p:spPr>
          <a:xfrm>
            <a:off x="6400800" y="3794760"/>
            <a:ext cx="4983480" cy="0"/>
          </a:xfrm>
          <a:prstGeom prst="line">
            <a:avLst/>
          </a:prstGeom>
          <a:noFill/>
          <a:ln w="12700">
            <a:solidFill>
              <a:srgbClr val="E4E2D8"/>
            </a:solidFill>
            <a:prstDash val="solid"/>
          </a:ln>
        </p:spPr>
        <p:txBody>
          <a:bodyPr/>
          <a:lstStyle/>
          <a:p>
            <a:endParaRPr lang="en-US"/>
          </a:p>
        </p:txBody>
      </p:sp>
      <p:sp>
        <p:nvSpPr>
          <p:cNvPr id="21" name="Text 18"/>
          <p:cNvSpPr/>
          <p:nvPr/>
        </p:nvSpPr>
        <p:spPr>
          <a:xfrm>
            <a:off x="6400800" y="3867912"/>
            <a:ext cx="1371600" cy="45720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Total revenue</a:t>
            </a:r>
            <a:endParaRPr lang="en-US" sz="1250" dirty="0"/>
          </a:p>
        </p:txBody>
      </p:sp>
      <p:sp>
        <p:nvSpPr>
          <p:cNvPr id="22" name="Text 19"/>
          <p:cNvSpPr/>
          <p:nvPr/>
        </p:nvSpPr>
        <p:spPr>
          <a:xfrm>
            <a:off x="7818120" y="3867912"/>
            <a:ext cx="1737360" cy="457200"/>
          </a:xfrm>
          <a:prstGeom prst="rect">
            <a:avLst/>
          </a:prstGeom>
          <a:noFill/>
          <a:ln/>
        </p:spPr>
        <p:txBody>
          <a:bodyPr wrap="square" rtlCol="0" anchor="ctr"/>
          <a:lstStyle/>
          <a:p>
            <a:pPr marL="0" indent="0" algn="ctr">
              <a:buNone/>
            </a:pPr>
            <a:r>
              <a:rPr lang="en-US" sz="1700" b="1" dirty="0">
                <a:solidFill>
                  <a:srgbClr val="2F3C7E"/>
                </a:solidFill>
                <a:latin typeface="Cambria" pitchFamily="34" charset="0"/>
                <a:ea typeface="Cambria" pitchFamily="34" charset="-122"/>
                <a:cs typeface="Cambria" pitchFamily="34" charset="-120"/>
              </a:rPr>
              <a:t>$62,645</a:t>
            </a:r>
            <a:endParaRPr lang="en-US" sz="1700" dirty="0"/>
          </a:p>
        </p:txBody>
      </p:sp>
      <p:sp>
        <p:nvSpPr>
          <p:cNvPr id="23" name="Text 20"/>
          <p:cNvSpPr/>
          <p:nvPr/>
        </p:nvSpPr>
        <p:spPr>
          <a:xfrm>
            <a:off x="9555480" y="3867912"/>
            <a:ext cx="1874520" cy="457200"/>
          </a:xfrm>
          <a:prstGeom prst="rect">
            <a:avLst/>
          </a:prstGeom>
          <a:noFill/>
          <a:ln/>
        </p:spPr>
        <p:txBody>
          <a:bodyPr wrap="square" rtlCol="0" anchor="ctr"/>
          <a:lstStyle/>
          <a:p>
            <a:pPr marL="0" indent="0" algn="ctr">
              <a:buNone/>
            </a:pPr>
            <a:r>
              <a:rPr lang="en-US" sz="1700" b="1" dirty="0">
                <a:solidFill>
                  <a:srgbClr val="F96167"/>
                </a:solidFill>
                <a:latin typeface="Cambria" pitchFamily="34" charset="0"/>
                <a:ea typeface="Cambria" pitchFamily="34" charset="-122"/>
                <a:cs typeface="Cambria" pitchFamily="34" charset="-120"/>
              </a:rPr>
              <a:t>$170,436</a:t>
            </a:r>
            <a:endParaRPr lang="en-US" sz="1700" dirty="0"/>
          </a:p>
        </p:txBody>
      </p:sp>
      <p:sp>
        <p:nvSpPr>
          <p:cNvPr id="24" name="Shape 21"/>
          <p:cNvSpPr/>
          <p:nvPr/>
        </p:nvSpPr>
        <p:spPr>
          <a:xfrm>
            <a:off x="6400800" y="4389120"/>
            <a:ext cx="4983480" cy="0"/>
          </a:xfrm>
          <a:prstGeom prst="line">
            <a:avLst/>
          </a:prstGeom>
          <a:noFill/>
          <a:ln w="12700">
            <a:solidFill>
              <a:srgbClr val="E4E2D8"/>
            </a:solidFill>
            <a:prstDash val="solid"/>
          </a:ln>
        </p:spPr>
        <p:txBody>
          <a:bodyPr/>
          <a:lstStyle/>
          <a:p>
            <a:endParaRPr lang="en-US"/>
          </a:p>
        </p:txBody>
      </p:sp>
      <p:sp>
        <p:nvSpPr>
          <p:cNvPr id="25" name="Text 22"/>
          <p:cNvSpPr/>
          <p:nvPr/>
        </p:nvSpPr>
        <p:spPr>
          <a:xfrm>
            <a:off x="6400800" y="4617720"/>
            <a:ext cx="4983480" cy="1463040"/>
          </a:xfrm>
          <a:prstGeom prst="rect">
            <a:avLst/>
          </a:prstGeom>
          <a:noFill/>
          <a:ln/>
        </p:spPr>
        <p:txBody>
          <a:bodyPr wrap="square" rtlCol="0" anchor="ctr"/>
          <a:lstStyle/>
          <a:p>
            <a:pPr marL="0" indent="0">
              <a:lnSpc>
                <a:spcPct val="130000"/>
              </a:lnSpc>
              <a:buNone/>
            </a:pPr>
            <a:r>
              <a:rPr lang="en-US" sz="1150" dirty="0">
                <a:solidFill>
                  <a:srgbClr val="23253B"/>
                </a:solidFill>
                <a:latin typeface="Calibri" pitchFamily="34" charset="0"/>
                <a:ea typeface="Calibri" pitchFamily="34" charset="-122"/>
                <a:cs typeface="Calibri" pitchFamily="34" charset="-120"/>
              </a:rPr>
              <a:t>Insight: subscribers spend almost the same per order as non-subscribers — the subscription program is driving loyalty, not yet driving basket size. Non-subscribers still account for the majority of revenue simply on volume.</a:t>
            </a:r>
            <a:endParaRPr lang="en-US" sz="1150" dirty="0"/>
          </a:p>
        </p:txBody>
      </p:sp>
      <p:sp>
        <p:nvSpPr>
          <p:cNvPr id="26" name="Text 23"/>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SQL ANALYSIS — POSTGRESQL</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000" b="1" dirty="0">
                <a:solidFill>
                  <a:srgbClr val="23253B"/>
                </a:solidFill>
                <a:latin typeface="Cambria" pitchFamily="34" charset="0"/>
                <a:ea typeface="Cambria" pitchFamily="34" charset="-122"/>
                <a:cs typeface="Cambria" pitchFamily="34" charset="-120"/>
              </a:rPr>
              <a:t>Customer segments and repeat-buying behavior</a:t>
            </a:r>
            <a:endParaRPr lang="en-US" sz="3000" dirty="0"/>
          </a:p>
        </p:txBody>
      </p:sp>
      <p:sp>
        <p:nvSpPr>
          <p:cNvPr id="4" name="Text 2"/>
          <p:cNvSpPr/>
          <p:nvPr/>
        </p:nvSpPr>
        <p:spPr>
          <a:xfrm>
            <a:off x="548640" y="1508760"/>
            <a:ext cx="5212080" cy="320040"/>
          </a:xfrm>
          <a:prstGeom prst="rect">
            <a:avLst/>
          </a:prstGeom>
          <a:noFill/>
          <a:ln/>
        </p:spPr>
        <p:txBody>
          <a:bodyPr wrap="square" rtlCol="0" anchor="ctr"/>
          <a:lstStyle/>
          <a:p>
            <a:pPr marL="0" indent="0">
              <a:buNone/>
            </a:pPr>
            <a:r>
              <a:rPr lang="en-US" sz="1400" b="1" dirty="0">
                <a:solidFill>
                  <a:srgbClr val="23253B"/>
                </a:solidFill>
                <a:latin typeface="Calibri" pitchFamily="34" charset="0"/>
                <a:ea typeface="Calibri" pitchFamily="34" charset="-122"/>
                <a:cs typeface="Calibri" pitchFamily="34" charset="-120"/>
              </a:rPr>
              <a:t>Customer Segmentation</a:t>
            </a:r>
            <a:endParaRPr lang="en-US" sz="1400" dirty="0"/>
          </a:p>
        </p:txBody>
      </p:sp>
      <p:sp>
        <p:nvSpPr>
          <p:cNvPr id="5" name="Text 3"/>
          <p:cNvSpPr/>
          <p:nvPr/>
        </p:nvSpPr>
        <p:spPr>
          <a:xfrm>
            <a:off x="548640" y="1810512"/>
            <a:ext cx="521208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Classified by purchase history</a:t>
            </a:r>
            <a:endParaRPr lang="en-US" sz="1100" dirty="0"/>
          </a:p>
        </p:txBody>
      </p:sp>
      <p:graphicFrame>
        <p:nvGraphicFramePr>
          <p:cNvPr id="6" name="Chart 0"/>
          <p:cNvGraphicFramePr/>
          <p:nvPr/>
        </p:nvGraphicFramePr>
        <p:xfrm>
          <a:off x="548640" y="2148840"/>
          <a:ext cx="521208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548640" y="4526280"/>
            <a:ext cx="5212080" cy="640080"/>
          </a:xfrm>
          <a:prstGeom prst="rect">
            <a:avLst/>
          </a:prstGeom>
          <a:noFill/>
          <a:ln/>
        </p:spPr>
        <p:txBody>
          <a:bodyPr wrap="square" rtlCol="0" anchor="ctr"/>
          <a:lstStyle/>
          <a:p>
            <a:pPr marL="0" indent="0">
              <a:lnSpc>
                <a:spcPct val="125000"/>
              </a:lnSpc>
              <a:buNone/>
            </a:pPr>
            <a:r>
              <a:rPr lang="en-US" sz="1150" i="1" dirty="0">
                <a:solidFill>
                  <a:srgbClr val="6B7280"/>
                </a:solidFill>
                <a:latin typeface="Calibri" pitchFamily="34" charset="0"/>
                <a:ea typeface="Calibri" pitchFamily="34" charset="-122"/>
                <a:cs typeface="Calibri" pitchFamily="34" charset="-120"/>
              </a:rPr>
              <a:t>80% of customers already qualify as “Loyal,” leaving a small but valuable Returning segment (701) as the clearest target for conversion campaigns.</a:t>
            </a:r>
            <a:endParaRPr lang="en-US" sz="1150" dirty="0"/>
          </a:p>
        </p:txBody>
      </p:sp>
      <p:sp>
        <p:nvSpPr>
          <p:cNvPr id="8" name="Shape 5"/>
          <p:cNvSpPr/>
          <p:nvPr/>
        </p:nvSpPr>
        <p:spPr>
          <a:xfrm>
            <a:off x="6126480" y="1508760"/>
            <a:ext cx="5532120" cy="4526280"/>
          </a:xfrm>
          <a:prstGeom prst="roundRect">
            <a:avLst>
              <a:gd name="adj" fmla="val 2020"/>
            </a:avLst>
          </a:prstGeom>
          <a:solidFill>
            <a:srgbClr val="FDF8E4"/>
          </a:solidFill>
          <a:ln/>
        </p:spPr>
        <p:txBody>
          <a:bodyPr/>
          <a:lstStyle/>
          <a:p>
            <a:endParaRPr lang="en-US"/>
          </a:p>
        </p:txBody>
      </p:sp>
      <p:sp>
        <p:nvSpPr>
          <p:cNvPr id="9" name="Text 6"/>
          <p:cNvSpPr/>
          <p:nvPr/>
        </p:nvSpPr>
        <p:spPr>
          <a:xfrm>
            <a:off x="6400800" y="1737360"/>
            <a:ext cx="5029200" cy="365760"/>
          </a:xfrm>
          <a:prstGeom prst="rect">
            <a:avLst/>
          </a:prstGeom>
          <a:noFill/>
          <a:ln/>
        </p:spPr>
        <p:txBody>
          <a:bodyPr wrap="square" rtlCol="0" anchor="ctr"/>
          <a:lstStyle/>
          <a:p>
            <a:pPr marL="0" indent="0">
              <a:buNone/>
            </a:pPr>
            <a:r>
              <a:rPr lang="en-US" sz="1400" b="1" dirty="0">
                <a:solidFill>
                  <a:srgbClr val="23253B"/>
                </a:solidFill>
                <a:latin typeface="Calibri" pitchFamily="34" charset="0"/>
                <a:ea typeface="Calibri" pitchFamily="34" charset="-122"/>
                <a:cs typeface="Calibri" pitchFamily="34" charset="-120"/>
              </a:rPr>
              <a:t>Repeat Buyers by Subscription Status</a:t>
            </a:r>
            <a:endParaRPr lang="en-US" sz="1400" dirty="0"/>
          </a:p>
        </p:txBody>
      </p:sp>
      <p:sp>
        <p:nvSpPr>
          <p:cNvPr id="10" name="Text 7"/>
          <p:cNvSpPr/>
          <p:nvPr/>
        </p:nvSpPr>
        <p:spPr>
          <a:xfrm>
            <a:off x="6400800" y="2029968"/>
            <a:ext cx="502920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Customers with more than 5 purchases</a:t>
            </a:r>
            <a:endParaRPr lang="en-US" sz="1100" dirty="0"/>
          </a:p>
        </p:txBody>
      </p:sp>
      <p:graphicFrame>
        <p:nvGraphicFramePr>
          <p:cNvPr id="11" name="Chart 1"/>
          <p:cNvGraphicFramePr/>
          <p:nvPr/>
        </p:nvGraphicFramePr>
        <p:xfrm>
          <a:off x="6492240" y="2423160"/>
          <a:ext cx="4937760" cy="196596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 8"/>
          <p:cNvSpPr/>
          <p:nvPr/>
        </p:nvSpPr>
        <p:spPr>
          <a:xfrm>
            <a:off x="6400800" y="4526280"/>
            <a:ext cx="4983480" cy="1371600"/>
          </a:xfrm>
          <a:prstGeom prst="rect">
            <a:avLst/>
          </a:prstGeom>
          <a:noFill/>
          <a:ln/>
        </p:spPr>
        <p:txBody>
          <a:bodyPr wrap="square" rtlCol="0" anchor="ctr"/>
          <a:lstStyle/>
          <a:p>
            <a:pPr marL="0" indent="0">
              <a:lnSpc>
                <a:spcPct val="130000"/>
              </a:lnSpc>
              <a:buNone/>
            </a:pPr>
            <a:r>
              <a:rPr lang="en-US" sz="1150" dirty="0">
                <a:solidFill>
                  <a:srgbClr val="23253B"/>
                </a:solidFill>
                <a:latin typeface="Calibri" pitchFamily="34" charset="0"/>
                <a:ea typeface="Calibri" pitchFamily="34" charset="-122"/>
                <a:cs typeface="Calibri" pitchFamily="34" charset="-120"/>
              </a:rPr>
              <a:t>Insight: as a share of each group, subscribers repeat-purchase at a slightly higher rate (91%) than non-subscribers (88%) — loyalty programs correlate with repeat behavior, even without a big spend lift.</a:t>
            </a:r>
            <a:endParaRPr lang="en-US" sz="1150" dirty="0"/>
          </a:p>
        </p:txBody>
      </p:sp>
      <p:sp>
        <p:nvSpPr>
          <p:cNvPr id="13" name="Text 9"/>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SQL ANALYSIS — POSTGRESQL</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000" b="1" dirty="0">
                <a:solidFill>
                  <a:srgbClr val="23253B"/>
                </a:solidFill>
                <a:latin typeface="Cambria" pitchFamily="34" charset="0"/>
                <a:ea typeface="Cambria" pitchFamily="34" charset="-122"/>
                <a:cs typeface="Cambria" pitchFamily="34" charset="-120"/>
              </a:rPr>
              <a:t>What sells well — and what needs a discount to move</a:t>
            </a:r>
            <a:endParaRPr lang="en-US" sz="3000" dirty="0"/>
          </a:p>
        </p:txBody>
      </p:sp>
      <p:sp>
        <p:nvSpPr>
          <p:cNvPr id="4" name="Text 2"/>
          <p:cNvSpPr/>
          <p:nvPr/>
        </p:nvSpPr>
        <p:spPr>
          <a:xfrm>
            <a:off x="548640" y="1508760"/>
            <a:ext cx="5212080" cy="320040"/>
          </a:xfrm>
          <a:prstGeom prst="rect">
            <a:avLst/>
          </a:prstGeom>
          <a:noFill/>
          <a:ln/>
        </p:spPr>
        <p:txBody>
          <a:bodyPr wrap="square" rtlCol="0" anchor="ctr"/>
          <a:lstStyle/>
          <a:p>
            <a:pPr marL="0" indent="0">
              <a:buNone/>
            </a:pPr>
            <a:r>
              <a:rPr lang="en-US" sz="1400" b="1" dirty="0">
                <a:solidFill>
                  <a:srgbClr val="23253B"/>
                </a:solidFill>
                <a:latin typeface="Calibri" pitchFamily="34" charset="0"/>
                <a:ea typeface="Calibri" pitchFamily="34" charset="-122"/>
                <a:cs typeface="Calibri" pitchFamily="34" charset="-120"/>
              </a:rPr>
              <a:t>Top-Rated Products</a:t>
            </a:r>
            <a:endParaRPr lang="en-US" sz="1400" dirty="0"/>
          </a:p>
        </p:txBody>
      </p:sp>
      <p:sp>
        <p:nvSpPr>
          <p:cNvPr id="5" name="Text 3"/>
          <p:cNvSpPr/>
          <p:nvPr/>
        </p:nvSpPr>
        <p:spPr>
          <a:xfrm>
            <a:off x="548640" y="1810512"/>
            <a:ext cx="521208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By average review rating (out of 5)</a:t>
            </a:r>
            <a:endParaRPr lang="en-US" sz="1100" dirty="0"/>
          </a:p>
        </p:txBody>
      </p:sp>
      <p:sp>
        <p:nvSpPr>
          <p:cNvPr id="6" name="Text 4"/>
          <p:cNvSpPr/>
          <p:nvPr/>
        </p:nvSpPr>
        <p:spPr>
          <a:xfrm>
            <a:off x="548640" y="2286000"/>
            <a:ext cx="365760" cy="457200"/>
          </a:xfrm>
          <a:prstGeom prst="rect">
            <a:avLst/>
          </a:prstGeom>
          <a:noFill/>
          <a:ln/>
        </p:spPr>
        <p:txBody>
          <a:bodyPr wrap="square" rtlCol="0" anchor="ctr"/>
          <a:lstStyle/>
          <a:p>
            <a:pPr marL="0" indent="0">
              <a:buNone/>
            </a:pPr>
            <a:r>
              <a:rPr lang="en-US" sz="1500" b="1" dirty="0">
                <a:solidFill>
                  <a:srgbClr val="6B7280"/>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960120" y="2286000"/>
            <a:ext cx="1417320" cy="457200"/>
          </a:xfrm>
          <a:prstGeom prst="rect">
            <a:avLst/>
          </a:prstGeom>
          <a:noFill/>
          <a:ln/>
        </p:spPr>
        <p:txBody>
          <a:bodyPr wrap="square" rtlCol="0" anchor="ctr"/>
          <a:lstStyle/>
          <a:p>
            <a:pPr marL="0" indent="0">
              <a:buNone/>
            </a:pPr>
            <a:r>
              <a:rPr lang="en-US" sz="1300" b="1" dirty="0">
                <a:solidFill>
                  <a:srgbClr val="23253B"/>
                </a:solidFill>
                <a:latin typeface="Calibri" pitchFamily="34" charset="0"/>
                <a:ea typeface="Calibri" pitchFamily="34" charset="-122"/>
                <a:cs typeface="Calibri" pitchFamily="34" charset="-120"/>
              </a:rPr>
              <a:t>Gloves</a:t>
            </a:r>
            <a:endParaRPr lang="en-US" sz="1300" dirty="0"/>
          </a:p>
        </p:txBody>
      </p:sp>
      <p:sp>
        <p:nvSpPr>
          <p:cNvPr id="8" name="Shape 6"/>
          <p:cNvSpPr/>
          <p:nvPr/>
        </p:nvSpPr>
        <p:spPr>
          <a:xfrm>
            <a:off x="2468880" y="2441448"/>
            <a:ext cx="2331720" cy="146304"/>
          </a:xfrm>
          <a:prstGeom prst="roundRect">
            <a:avLst>
              <a:gd name="adj" fmla="val 50000"/>
            </a:avLst>
          </a:prstGeom>
          <a:solidFill>
            <a:srgbClr val="EEEDE6"/>
          </a:solidFill>
          <a:ln/>
        </p:spPr>
        <p:txBody>
          <a:bodyPr/>
          <a:lstStyle/>
          <a:p>
            <a:endParaRPr lang="en-US"/>
          </a:p>
        </p:txBody>
      </p:sp>
      <p:sp>
        <p:nvSpPr>
          <p:cNvPr id="9" name="Shape 7"/>
          <p:cNvSpPr/>
          <p:nvPr/>
        </p:nvSpPr>
        <p:spPr>
          <a:xfrm>
            <a:off x="2468880" y="2441448"/>
            <a:ext cx="2323144" cy="146304"/>
          </a:xfrm>
          <a:prstGeom prst="roundRect">
            <a:avLst>
              <a:gd name="adj" fmla="val 50000"/>
            </a:avLst>
          </a:prstGeom>
          <a:solidFill>
            <a:srgbClr val="F96167"/>
          </a:solidFill>
          <a:ln/>
        </p:spPr>
        <p:txBody>
          <a:bodyPr/>
          <a:lstStyle/>
          <a:p>
            <a:endParaRPr lang="en-US"/>
          </a:p>
        </p:txBody>
      </p:sp>
      <p:sp>
        <p:nvSpPr>
          <p:cNvPr id="10" name="Text 8"/>
          <p:cNvSpPr/>
          <p:nvPr/>
        </p:nvSpPr>
        <p:spPr>
          <a:xfrm>
            <a:off x="4892040" y="2286000"/>
            <a:ext cx="822960" cy="457200"/>
          </a:xfrm>
          <a:prstGeom prst="rect">
            <a:avLst/>
          </a:prstGeom>
          <a:noFill/>
          <a:ln/>
        </p:spPr>
        <p:txBody>
          <a:bodyPr wrap="square" rtlCol="0" anchor="ctr"/>
          <a:lstStyle/>
          <a:p>
            <a:pPr marL="0" indent="0">
              <a:buNone/>
            </a:pPr>
            <a:r>
              <a:rPr lang="en-US" sz="1400" b="1" dirty="0">
                <a:solidFill>
                  <a:srgbClr val="F96167"/>
                </a:solidFill>
                <a:latin typeface="Cambria" pitchFamily="34" charset="0"/>
                <a:ea typeface="Cambria" pitchFamily="34" charset="-122"/>
                <a:cs typeface="Cambria" pitchFamily="34" charset="-120"/>
              </a:rPr>
              <a:t>3.86</a:t>
            </a:r>
            <a:endParaRPr lang="en-US" sz="1400" dirty="0"/>
          </a:p>
        </p:txBody>
      </p:sp>
      <p:sp>
        <p:nvSpPr>
          <p:cNvPr id="11" name="Text 9"/>
          <p:cNvSpPr/>
          <p:nvPr/>
        </p:nvSpPr>
        <p:spPr>
          <a:xfrm>
            <a:off x="548640" y="2816352"/>
            <a:ext cx="365760" cy="457200"/>
          </a:xfrm>
          <a:prstGeom prst="rect">
            <a:avLst/>
          </a:prstGeom>
          <a:noFill/>
          <a:ln/>
        </p:spPr>
        <p:txBody>
          <a:bodyPr wrap="square" rtlCol="0" anchor="ctr"/>
          <a:lstStyle/>
          <a:p>
            <a:pPr marL="0" indent="0">
              <a:buNone/>
            </a:pPr>
            <a:r>
              <a:rPr lang="en-US" sz="1500" b="1" dirty="0">
                <a:solidFill>
                  <a:srgbClr val="6B7280"/>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960120" y="2816352"/>
            <a:ext cx="1417320" cy="457200"/>
          </a:xfrm>
          <a:prstGeom prst="rect">
            <a:avLst/>
          </a:prstGeom>
          <a:noFill/>
          <a:ln/>
        </p:spPr>
        <p:txBody>
          <a:bodyPr wrap="square" rtlCol="0" anchor="ctr"/>
          <a:lstStyle/>
          <a:p>
            <a:pPr marL="0" indent="0">
              <a:buNone/>
            </a:pPr>
            <a:r>
              <a:rPr lang="en-US" sz="1300" b="1" dirty="0">
                <a:solidFill>
                  <a:srgbClr val="23253B"/>
                </a:solidFill>
                <a:latin typeface="Calibri" pitchFamily="34" charset="0"/>
                <a:ea typeface="Calibri" pitchFamily="34" charset="-122"/>
                <a:cs typeface="Calibri" pitchFamily="34" charset="-120"/>
              </a:rPr>
              <a:t>Sandals</a:t>
            </a:r>
            <a:endParaRPr lang="en-US" sz="1300" dirty="0"/>
          </a:p>
        </p:txBody>
      </p:sp>
      <p:sp>
        <p:nvSpPr>
          <p:cNvPr id="13" name="Shape 11"/>
          <p:cNvSpPr/>
          <p:nvPr/>
        </p:nvSpPr>
        <p:spPr>
          <a:xfrm>
            <a:off x="2468880" y="2971800"/>
            <a:ext cx="2331720" cy="146304"/>
          </a:xfrm>
          <a:prstGeom prst="roundRect">
            <a:avLst>
              <a:gd name="adj" fmla="val 50000"/>
            </a:avLst>
          </a:prstGeom>
          <a:solidFill>
            <a:srgbClr val="EEEDE6"/>
          </a:solidFill>
          <a:ln/>
        </p:spPr>
        <p:txBody>
          <a:bodyPr/>
          <a:lstStyle/>
          <a:p>
            <a:endParaRPr lang="en-US"/>
          </a:p>
        </p:txBody>
      </p:sp>
      <p:sp>
        <p:nvSpPr>
          <p:cNvPr id="14" name="Shape 12"/>
          <p:cNvSpPr/>
          <p:nvPr/>
        </p:nvSpPr>
        <p:spPr>
          <a:xfrm>
            <a:off x="2468880" y="2971800"/>
            <a:ext cx="2151615" cy="146304"/>
          </a:xfrm>
          <a:prstGeom prst="roundRect">
            <a:avLst>
              <a:gd name="adj" fmla="val 50000"/>
            </a:avLst>
          </a:prstGeom>
          <a:solidFill>
            <a:srgbClr val="2F3C7E"/>
          </a:solidFill>
          <a:ln/>
        </p:spPr>
        <p:txBody>
          <a:bodyPr/>
          <a:lstStyle/>
          <a:p>
            <a:endParaRPr lang="en-US"/>
          </a:p>
        </p:txBody>
      </p:sp>
      <p:sp>
        <p:nvSpPr>
          <p:cNvPr id="15" name="Text 13"/>
          <p:cNvSpPr/>
          <p:nvPr/>
        </p:nvSpPr>
        <p:spPr>
          <a:xfrm>
            <a:off x="4892040" y="2816352"/>
            <a:ext cx="822960" cy="457200"/>
          </a:xfrm>
          <a:prstGeom prst="rect">
            <a:avLst/>
          </a:prstGeom>
          <a:noFill/>
          <a:ln/>
        </p:spPr>
        <p:txBody>
          <a:bodyPr wrap="square" rtlCol="0" anchor="ctr"/>
          <a:lstStyle/>
          <a:p>
            <a:pPr marL="0" indent="0">
              <a:buNone/>
            </a:pPr>
            <a:r>
              <a:rPr lang="en-US" sz="1400" b="1" dirty="0">
                <a:solidFill>
                  <a:srgbClr val="2F3C7E"/>
                </a:solidFill>
                <a:latin typeface="Cambria" pitchFamily="34" charset="0"/>
                <a:ea typeface="Cambria" pitchFamily="34" charset="-122"/>
                <a:cs typeface="Cambria" pitchFamily="34" charset="-120"/>
              </a:rPr>
              <a:t>3.84</a:t>
            </a:r>
            <a:endParaRPr lang="en-US" sz="1400" dirty="0"/>
          </a:p>
        </p:txBody>
      </p:sp>
      <p:sp>
        <p:nvSpPr>
          <p:cNvPr id="16" name="Text 14"/>
          <p:cNvSpPr/>
          <p:nvPr/>
        </p:nvSpPr>
        <p:spPr>
          <a:xfrm>
            <a:off x="548640" y="3346704"/>
            <a:ext cx="365760" cy="457200"/>
          </a:xfrm>
          <a:prstGeom prst="rect">
            <a:avLst/>
          </a:prstGeom>
          <a:noFill/>
          <a:ln/>
        </p:spPr>
        <p:txBody>
          <a:bodyPr wrap="square" rtlCol="0" anchor="ctr"/>
          <a:lstStyle/>
          <a:p>
            <a:pPr marL="0" indent="0">
              <a:buNone/>
            </a:pPr>
            <a:r>
              <a:rPr lang="en-US" sz="1500" b="1" dirty="0">
                <a:solidFill>
                  <a:srgbClr val="6B7280"/>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960120" y="3346704"/>
            <a:ext cx="1417320" cy="457200"/>
          </a:xfrm>
          <a:prstGeom prst="rect">
            <a:avLst/>
          </a:prstGeom>
          <a:noFill/>
          <a:ln/>
        </p:spPr>
        <p:txBody>
          <a:bodyPr wrap="square" rtlCol="0" anchor="ctr"/>
          <a:lstStyle/>
          <a:p>
            <a:pPr marL="0" indent="0">
              <a:buNone/>
            </a:pPr>
            <a:r>
              <a:rPr lang="en-US" sz="1300" b="1" dirty="0">
                <a:solidFill>
                  <a:srgbClr val="23253B"/>
                </a:solidFill>
                <a:latin typeface="Calibri" pitchFamily="34" charset="0"/>
                <a:ea typeface="Calibri" pitchFamily="34" charset="-122"/>
                <a:cs typeface="Calibri" pitchFamily="34" charset="-120"/>
              </a:rPr>
              <a:t>Boots</a:t>
            </a:r>
            <a:endParaRPr lang="en-US" sz="1300" dirty="0"/>
          </a:p>
        </p:txBody>
      </p:sp>
      <p:sp>
        <p:nvSpPr>
          <p:cNvPr id="18" name="Shape 16"/>
          <p:cNvSpPr/>
          <p:nvPr/>
        </p:nvSpPr>
        <p:spPr>
          <a:xfrm>
            <a:off x="2468880" y="3502152"/>
            <a:ext cx="2331720" cy="146304"/>
          </a:xfrm>
          <a:prstGeom prst="roundRect">
            <a:avLst>
              <a:gd name="adj" fmla="val 50000"/>
            </a:avLst>
          </a:prstGeom>
          <a:solidFill>
            <a:srgbClr val="EEEDE6"/>
          </a:solidFill>
          <a:ln/>
        </p:spPr>
        <p:txBody>
          <a:bodyPr/>
          <a:lstStyle/>
          <a:p>
            <a:endParaRPr lang="en-US"/>
          </a:p>
        </p:txBody>
      </p:sp>
      <p:sp>
        <p:nvSpPr>
          <p:cNvPr id="19" name="Shape 17"/>
          <p:cNvSpPr/>
          <p:nvPr/>
        </p:nvSpPr>
        <p:spPr>
          <a:xfrm>
            <a:off x="2468880" y="3502152"/>
            <a:ext cx="1980086" cy="146304"/>
          </a:xfrm>
          <a:prstGeom prst="roundRect">
            <a:avLst>
              <a:gd name="adj" fmla="val 50000"/>
            </a:avLst>
          </a:prstGeom>
          <a:solidFill>
            <a:srgbClr val="2F3C7E"/>
          </a:solidFill>
          <a:ln/>
        </p:spPr>
        <p:txBody>
          <a:bodyPr/>
          <a:lstStyle/>
          <a:p>
            <a:endParaRPr lang="en-US"/>
          </a:p>
        </p:txBody>
      </p:sp>
      <p:sp>
        <p:nvSpPr>
          <p:cNvPr id="20" name="Text 18"/>
          <p:cNvSpPr/>
          <p:nvPr/>
        </p:nvSpPr>
        <p:spPr>
          <a:xfrm>
            <a:off x="4892040" y="3346704"/>
            <a:ext cx="822960" cy="457200"/>
          </a:xfrm>
          <a:prstGeom prst="rect">
            <a:avLst/>
          </a:prstGeom>
          <a:noFill/>
          <a:ln/>
        </p:spPr>
        <p:txBody>
          <a:bodyPr wrap="square" rtlCol="0" anchor="ctr"/>
          <a:lstStyle/>
          <a:p>
            <a:pPr marL="0" indent="0">
              <a:buNone/>
            </a:pPr>
            <a:r>
              <a:rPr lang="en-US" sz="1400" b="1" dirty="0">
                <a:solidFill>
                  <a:srgbClr val="2F3C7E"/>
                </a:solidFill>
                <a:latin typeface="Cambria" pitchFamily="34" charset="0"/>
                <a:ea typeface="Cambria" pitchFamily="34" charset="-122"/>
                <a:cs typeface="Cambria" pitchFamily="34" charset="-120"/>
              </a:rPr>
              <a:t>3.82</a:t>
            </a:r>
            <a:endParaRPr lang="en-US" sz="1400" dirty="0"/>
          </a:p>
        </p:txBody>
      </p:sp>
      <p:sp>
        <p:nvSpPr>
          <p:cNvPr id="21" name="Text 19"/>
          <p:cNvSpPr/>
          <p:nvPr/>
        </p:nvSpPr>
        <p:spPr>
          <a:xfrm>
            <a:off x="548640" y="3877056"/>
            <a:ext cx="365760" cy="457200"/>
          </a:xfrm>
          <a:prstGeom prst="rect">
            <a:avLst/>
          </a:prstGeom>
          <a:noFill/>
          <a:ln/>
        </p:spPr>
        <p:txBody>
          <a:bodyPr wrap="square" rtlCol="0" anchor="ctr"/>
          <a:lstStyle/>
          <a:p>
            <a:pPr marL="0" indent="0">
              <a:buNone/>
            </a:pPr>
            <a:r>
              <a:rPr lang="en-US" sz="1500" b="1" dirty="0">
                <a:solidFill>
                  <a:srgbClr val="6B7280"/>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960120" y="3877056"/>
            <a:ext cx="1417320" cy="457200"/>
          </a:xfrm>
          <a:prstGeom prst="rect">
            <a:avLst/>
          </a:prstGeom>
          <a:noFill/>
          <a:ln/>
        </p:spPr>
        <p:txBody>
          <a:bodyPr wrap="square" rtlCol="0" anchor="ctr"/>
          <a:lstStyle/>
          <a:p>
            <a:pPr marL="0" indent="0">
              <a:buNone/>
            </a:pPr>
            <a:r>
              <a:rPr lang="en-US" sz="1300" b="1" dirty="0">
                <a:solidFill>
                  <a:srgbClr val="23253B"/>
                </a:solidFill>
                <a:latin typeface="Calibri" pitchFamily="34" charset="0"/>
                <a:ea typeface="Calibri" pitchFamily="34" charset="-122"/>
                <a:cs typeface="Calibri" pitchFamily="34" charset="-120"/>
              </a:rPr>
              <a:t>Hat</a:t>
            </a:r>
            <a:endParaRPr lang="en-US" sz="1300" dirty="0"/>
          </a:p>
        </p:txBody>
      </p:sp>
      <p:sp>
        <p:nvSpPr>
          <p:cNvPr id="23" name="Shape 21"/>
          <p:cNvSpPr/>
          <p:nvPr/>
        </p:nvSpPr>
        <p:spPr>
          <a:xfrm>
            <a:off x="2468880" y="4032504"/>
            <a:ext cx="2331720" cy="146304"/>
          </a:xfrm>
          <a:prstGeom prst="roundRect">
            <a:avLst>
              <a:gd name="adj" fmla="val 50000"/>
            </a:avLst>
          </a:prstGeom>
          <a:solidFill>
            <a:srgbClr val="EEEDE6"/>
          </a:solidFill>
          <a:ln/>
        </p:spPr>
        <p:txBody>
          <a:bodyPr/>
          <a:lstStyle/>
          <a:p>
            <a:endParaRPr lang="en-US"/>
          </a:p>
        </p:txBody>
      </p:sp>
      <p:sp>
        <p:nvSpPr>
          <p:cNvPr id="24" name="Shape 22"/>
          <p:cNvSpPr/>
          <p:nvPr/>
        </p:nvSpPr>
        <p:spPr>
          <a:xfrm>
            <a:off x="2468880" y="4032504"/>
            <a:ext cx="1808557" cy="146304"/>
          </a:xfrm>
          <a:prstGeom prst="roundRect">
            <a:avLst>
              <a:gd name="adj" fmla="val 50000"/>
            </a:avLst>
          </a:prstGeom>
          <a:solidFill>
            <a:srgbClr val="2F3C7E"/>
          </a:solidFill>
          <a:ln/>
        </p:spPr>
        <p:txBody>
          <a:bodyPr/>
          <a:lstStyle/>
          <a:p>
            <a:endParaRPr lang="en-US"/>
          </a:p>
        </p:txBody>
      </p:sp>
      <p:sp>
        <p:nvSpPr>
          <p:cNvPr id="25" name="Text 23"/>
          <p:cNvSpPr/>
          <p:nvPr/>
        </p:nvSpPr>
        <p:spPr>
          <a:xfrm>
            <a:off x="4892040" y="3877056"/>
            <a:ext cx="822960" cy="457200"/>
          </a:xfrm>
          <a:prstGeom prst="rect">
            <a:avLst/>
          </a:prstGeom>
          <a:noFill/>
          <a:ln/>
        </p:spPr>
        <p:txBody>
          <a:bodyPr wrap="square" rtlCol="0" anchor="ctr"/>
          <a:lstStyle/>
          <a:p>
            <a:pPr marL="0" indent="0">
              <a:buNone/>
            </a:pPr>
            <a:r>
              <a:rPr lang="en-US" sz="1400" b="1" dirty="0">
                <a:solidFill>
                  <a:srgbClr val="2F3C7E"/>
                </a:solidFill>
                <a:latin typeface="Cambria" pitchFamily="34" charset="0"/>
                <a:ea typeface="Cambria" pitchFamily="34" charset="-122"/>
                <a:cs typeface="Cambria" pitchFamily="34" charset="-120"/>
              </a:rPr>
              <a:t>3.80</a:t>
            </a:r>
            <a:endParaRPr lang="en-US" sz="1400" dirty="0"/>
          </a:p>
        </p:txBody>
      </p:sp>
      <p:sp>
        <p:nvSpPr>
          <p:cNvPr id="26" name="Text 24"/>
          <p:cNvSpPr/>
          <p:nvPr/>
        </p:nvSpPr>
        <p:spPr>
          <a:xfrm>
            <a:off x="548640" y="4407408"/>
            <a:ext cx="365760" cy="457200"/>
          </a:xfrm>
          <a:prstGeom prst="rect">
            <a:avLst/>
          </a:prstGeom>
          <a:noFill/>
          <a:ln/>
        </p:spPr>
        <p:txBody>
          <a:bodyPr wrap="square" rtlCol="0" anchor="ctr"/>
          <a:lstStyle/>
          <a:p>
            <a:pPr marL="0" indent="0">
              <a:buNone/>
            </a:pPr>
            <a:r>
              <a:rPr lang="en-US" sz="1500" b="1" dirty="0">
                <a:solidFill>
                  <a:srgbClr val="6B7280"/>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960120" y="4407408"/>
            <a:ext cx="1417320" cy="457200"/>
          </a:xfrm>
          <a:prstGeom prst="rect">
            <a:avLst/>
          </a:prstGeom>
          <a:noFill/>
          <a:ln/>
        </p:spPr>
        <p:txBody>
          <a:bodyPr wrap="square" rtlCol="0" anchor="ctr"/>
          <a:lstStyle/>
          <a:p>
            <a:pPr marL="0" indent="0">
              <a:buNone/>
            </a:pPr>
            <a:r>
              <a:rPr lang="en-US" sz="1300" b="1" dirty="0">
                <a:solidFill>
                  <a:srgbClr val="23253B"/>
                </a:solidFill>
                <a:latin typeface="Calibri" pitchFamily="34" charset="0"/>
                <a:ea typeface="Calibri" pitchFamily="34" charset="-122"/>
                <a:cs typeface="Calibri" pitchFamily="34" charset="-120"/>
              </a:rPr>
              <a:t>Skirt</a:t>
            </a:r>
            <a:endParaRPr lang="en-US" sz="1300" dirty="0"/>
          </a:p>
        </p:txBody>
      </p:sp>
      <p:sp>
        <p:nvSpPr>
          <p:cNvPr id="28" name="Shape 26"/>
          <p:cNvSpPr/>
          <p:nvPr/>
        </p:nvSpPr>
        <p:spPr>
          <a:xfrm>
            <a:off x="2468880" y="4562856"/>
            <a:ext cx="2331720" cy="146304"/>
          </a:xfrm>
          <a:prstGeom prst="roundRect">
            <a:avLst>
              <a:gd name="adj" fmla="val 50000"/>
            </a:avLst>
          </a:prstGeom>
          <a:solidFill>
            <a:srgbClr val="EEEDE6"/>
          </a:solidFill>
          <a:ln/>
        </p:spPr>
        <p:txBody>
          <a:bodyPr/>
          <a:lstStyle/>
          <a:p>
            <a:endParaRPr lang="en-US"/>
          </a:p>
        </p:txBody>
      </p:sp>
      <p:sp>
        <p:nvSpPr>
          <p:cNvPr id="29" name="Shape 27"/>
          <p:cNvSpPr/>
          <p:nvPr/>
        </p:nvSpPr>
        <p:spPr>
          <a:xfrm>
            <a:off x="2468880" y="4562856"/>
            <a:ext cx="1637028" cy="146304"/>
          </a:xfrm>
          <a:prstGeom prst="roundRect">
            <a:avLst>
              <a:gd name="adj" fmla="val 50000"/>
            </a:avLst>
          </a:prstGeom>
          <a:solidFill>
            <a:srgbClr val="2F3C7E"/>
          </a:solidFill>
          <a:ln/>
        </p:spPr>
        <p:txBody>
          <a:bodyPr/>
          <a:lstStyle/>
          <a:p>
            <a:endParaRPr lang="en-US"/>
          </a:p>
        </p:txBody>
      </p:sp>
      <p:sp>
        <p:nvSpPr>
          <p:cNvPr id="30" name="Text 28"/>
          <p:cNvSpPr/>
          <p:nvPr/>
        </p:nvSpPr>
        <p:spPr>
          <a:xfrm>
            <a:off x="4892040" y="4407408"/>
            <a:ext cx="822960" cy="457200"/>
          </a:xfrm>
          <a:prstGeom prst="rect">
            <a:avLst/>
          </a:prstGeom>
          <a:noFill/>
          <a:ln/>
        </p:spPr>
        <p:txBody>
          <a:bodyPr wrap="square" rtlCol="0" anchor="ctr"/>
          <a:lstStyle/>
          <a:p>
            <a:pPr marL="0" indent="0">
              <a:buNone/>
            </a:pPr>
            <a:r>
              <a:rPr lang="en-US" sz="1400" b="1" dirty="0">
                <a:solidFill>
                  <a:srgbClr val="2F3C7E"/>
                </a:solidFill>
                <a:latin typeface="Cambria" pitchFamily="34" charset="0"/>
                <a:ea typeface="Cambria" pitchFamily="34" charset="-122"/>
                <a:cs typeface="Cambria" pitchFamily="34" charset="-120"/>
              </a:rPr>
              <a:t>3.78</a:t>
            </a:r>
            <a:endParaRPr lang="en-US" sz="1400" dirty="0"/>
          </a:p>
        </p:txBody>
      </p:sp>
      <p:sp>
        <p:nvSpPr>
          <p:cNvPr id="31" name="Text 29"/>
          <p:cNvSpPr/>
          <p:nvPr/>
        </p:nvSpPr>
        <p:spPr>
          <a:xfrm>
            <a:off x="6355080" y="1508760"/>
            <a:ext cx="5303520" cy="320040"/>
          </a:xfrm>
          <a:prstGeom prst="rect">
            <a:avLst/>
          </a:prstGeom>
          <a:noFill/>
          <a:ln/>
        </p:spPr>
        <p:txBody>
          <a:bodyPr wrap="square" rtlCol="0" anchor="ctr"/>
          <a:lstStyle/>
          <a:p>
            <a:pPr marL="0" indent="0">
              <a:buNone/>
            </a:pPr>
            <a:r>
              <a:rPr lang="en-US" sz="1400" b="1" dirty="0">
                <a:solidFill>
                  <a:srgbClr val="23253B"/>
                </a:solidFill>
                <a:latin typeface="Calibri" pitchFamily="34" charset="0"/>
                <a:ea typeface="Calibri" pitchFamily="34" charset="-122"/>
                <a:cs typeface="Calibri" pitchFamily="34" charset="-120"/>
              </a:rPr>
              <a:t>Most Discount-Dependent Products</a:t>
            </a:r>
            <a:endParaRPr lang="en-US" sz="1400" dirty="0"/>
          </a:p>
        </p:txBody>
      </p:sp>
      <p:sp>
        <p:nvSpPr>
          <p:cNvPr id="32" name="Text 30"/>
          <p:cNvSpPr/>
          <p:nvPr/>
        </p:nvSpPr>
        <p:spPr>
          <a:xfrm>
            <a:off x="6355080" y="1810512"/>
            <a:ext cx="530352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Share of purchases made on discount</a:t>
            </a:r>
            <a:endParaRPr lang="en-US" sz="1100" dirty="0"/>
          </a:p>
        </p:txBody>
      </p:sp>
      <p:graphicFrame>
        <p:nvGraphicFramePr>
          <p:cNvPr id="33" name="Chart 0"/>
          <p:cNvGraphicFramePr/>
          <p:nvPr/>
        </p:nvGraphicFramePr>
        <p:xfrm>
          <a:off x="6355080" y="2148840"/>
          <a:ext cx="53035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34" name="Text 31"/>
          <p:cNvSpPr/>
          <p:nvPr/>
        </p:nvSpPr>
        <p:spPr>
          <a:xfrm>
            <a:off x="548640" y="5349240"/>
            <a:ext cx="11064240" cy="457200"/>
          </a:xfrm>
          <a:prstGeom prst="rect">
            <a:avLst/>
          </a:prstGeom>
          <a:noFill/>
          <a:ln/>
        </p:spPr>
        <p:txBody>
          <a:bodyPr wrap="square"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Note: Hat appears on both lists — well reviewed, but almost half its sales rely on a discount, a useful pricing test candidate.</a:t>
            </a:r>
            <a:endParaRPr lang="en-US" sz="1150" dirty="0"/>
          </a:p>
        </p:txBody>
      </p:sp>
      <p:sp>
        <p:nvSpPr>
          <p:cNvPr id="35" name="Text 3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SQL ANALYSIS — POSTGRESQL</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000" b="1" dirty="0">
                <a:solidFill>
                  <a:srgbClr val="23253B"/>
                </a:solidFill>
                <a:latin typeface="Cambria" pitchFamily="34" charset="0"/>
                <a:ea typeface="Cambria" pitchFamily="34" charset="-122"/>
                <a:cs typeface="Cambria" pitchFamily="34" charset="-120"/>
              </a:rPr>
              <a:t>Shipping preference and revenue by age group</a:t>
            </a:r>
            <a:endParaRPr lang="en-US" sz="3000" dirty="0"/>
          </a:p>
        </p:txBody>
      </p:sp>
      <p:sp>
        <p:nvSpPr>
          <p:cNvPr id="4" name="Text 2"/>
          <p:cNvSpPr/>
          <p:nvPr/>
        </p:nvSpPr>
        <p:spPr>
          <a:xfrm>
            <a:off x="548640" y="1508760"/>
            <a:ext cx="5212080" cy="320040"/>
          </a:xfrm>
          <a:prstGeom prst="rect">
            <a:avLst/>
          </a:prstGeom>
          <a:noFill/>
          <a:ln/>
        </p:spPr>
        <p:txBody>
          <a:bodyPr wrap="square" rtlCol="0" anchor="ctr"/>
          <a:lstStyle/>
          <a:p>
            <a:pPr marL="0" indent="0">
              <a:buNone/>
            </a:pPr>
            <a:r>
              <a:rPr lang="en-US" sz="1400" b="1" dirty="0">
                <a:solidFill>
                  <a:srgbClr val="23253B"/>
                </a:solidFill>
                <a:latin typeface="Calibri" pitchFamily="34" charset="0"/>
                <a:ea typeface="Calibri" pitchFamily="34" charset="-122"/>
                <a:cs typeface="Calibri" pitchFamily="34" charset="-120"/>
              </a:rPr>
              <a:t>Avg. Purchase by Shipping Type</a:t>
            </a:r>
            <a:endParaRPr lang="en-US" sz="1400" dirty="0"/>
          </a:p>
        </p:txBody>
      </p:sp>
      <p:graphicFrame>
        <p:nvGraphicFramePr>
          <p:cNvPr id="5" name="Chart 0"/>
          <p:cNvGraphicFramePr/>
          <p:nvPr/>
        </p:nvGraphicFramePr>
        <p:xfrm>
          <a:off x="548640" y="1920240"/>
          <a:ext cx="521208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48640" y="4343400"/>
            <a:ext cx="5212080" cy="777240"/>
          </a:xfrm>
          <a:prstGeom prst="rect">
            <a:avLst/>
          </a:prstGeom>
          <a:noFill/>
          <a:ln/>
        </p:spPr>
        <p:txBody>
          <a:bodyPr wrap="square" rtlCol="0" anchor="ctr"/>
          <a:lstStyle/>
          <a:p>
            <a:pPr marL="0" indent="0">
              <a:lnSpc>
                <a:spcPct val="125000"/>
              </a:lnSpc>
              <a:buNone/>
            </a:pPr>
            <a:r>
              <a:rPr lang="en-US" sz="1150" i="1" dirty="0">
                <a:solidFill>
                  <a:srgbClr val="6B7280"/>
                </a:solidFill>
                <a:latin typeface="Calibri" pitchFamily="34" charset="0"/>
                <a:ea typeface="Calibri" pitchFamily="34" charset="-122"/>
                <a:cs typeface="Calibri" pitchFamily="34" charset="-120"/>
              </a:rPr>
              <a:t>Express-shipping customers spend slightly more per order — a small but consistent premium worth testing with faster delivery upsells.</a:t>
            </a:r>
            <a:endParaRPr lang="en-US" sz="1150" dirty="0"/>
          </a:p>
        </p:txBody>
      </p:sp>
      <p:sp>
        <p:nvSpPr>
          <p:cNvPr id="7" name="Text 4"/>
          <p:cNvSpPr/>
          <p:nvPr/>
        </p:nvSpPr>
        <p:spPr>
          <a:xfrm>
            <a:off x="6355080" y="1508760"/>
            <a:ext cx="5303520" cy="320040"/>
          </a:xfrm>
          <a:prstGeom prst="rect">
            <a:avLst/>
          </a:prstGeom>
          <a:noFill/>
          <a:ln/>
        </p:spPr>
        <p:txBody>
          <a:bodyPr wrap="square" rtlCol="0" anchor="ctr"/>
          <a:lstStyle/>
          <a:p>
            <a:pPr marL="0" indent="0">
              <a:buNone/>
            </a:pPr>
            <a:r>
              <a:rPr lang="en-US" sz="1400" b="1" dirty="0">
                <a:solidFill>
                  <a:srgbClr val="23253B"/>
                </a:solidFill>
                <a:latin typeface="Calibri" pitchFamily="34" charset="0"/>
                <a:ea typeface="Calibri" pitchFamily="34" charset="-122"/>
                <a:cs typeface="Calibri" pitchFamily="34" charset="-120"/>
              </a:rPr>
              <a:t>Total Revenue by Age Group</a:t>
            </a:r>
            <a:endParaRPr lang="en-US" sz="1400" dirty="0"/>
          </a:p>
        </p:txBody>
      </p:sp>
      <p:graphicFrame>
        <p:nvGraphicFramePr>
          <p:cNvPr id="8" name="Chart 1"/>
          <p:cNvGraphicFramePr/>
          <p:nvPr/>
        </p:nvGraphicFramePr>
        <p:xfrm>
          <a:off x="6355080" y="1920240"/>
          <a:ext cx="530352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F3C7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F9E795"/>
                </a:solidFill>
                <a:latin typeface="Calibri" pitchFamily="34" charset="0"/>
                <a:ea typeface="Calibri" pitchFamily="34" charset="-122"/>
                <a:cs typeface="Calibri" pitchFamily="34" charset="-120"/>
              </a:rPr>
              <a:t>VISUALIZATION</a:t>
            </a:r>
            <a:endParaRPr lang="en-US" sz="1200" dirty="0"/>
          </a:p>
        </p:txBody>
      </p:sp>
      <p:sp>
        <p:nvSpPr>
          <p:cNvPr id="3" name="Text 1"/>
          <p:cNvSpPr/>
          <p:nvPr/>
        </p:nvSpPr>
        <p:spPr>
          <a:xfrm>
            <a:off x="548640" y="658368"/>
            <a:ext cx="1078992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An interactive Power BI dashboard</a:t>
            </a:r>
            <a:endParaRPr lang="en-US" sz="2800" dirty="0"/>
          </a:p>
        </p:txBody>
      </p:sp>
      <p:sp>
        <p:nvSpPr>
          <p:cNvPr id="4" name="Text 2"/>
          <p:cNvSpPr/>
          <p:nvPr/>
        </p:nvSpPr>
        <p:spPr>
          <a:xfrm>
            <a:off x="548640" y="1207008"/>
            <a:ext cx="9144000" cy="457200"/>
          </a:xfrm>
          <a:prstGeom prst="rect">
            <a:avLst/>
          </a:prstGeom>
          <a:noFill/>
          <a:ln/>
        </p:spPr>
        <p:txBody>
          <a:bodyPr wrap="square" rtlCol="0" anchor="ctr"/>
          <a:lstStyle/>
          <a:p>
            <a:pPr marL="0" indent="0">
              <a:buNone/>
            </a:pPr>
            <a:r>
              <a:rPr lang="en-US" sz="1250" dirty="0">
                <a:solidFill>
                  <a:srgbClr val="C7CCE8"/>
                </a:solidFill>
                <a:latin typeface="Calibri" pitchFamily="34" charset="0"/>
                <a:ea typeface="Calibri" pitchFamily="34" charset="-122"/>
                <a:cs typeface="Calibri" pitchFamily="34" charset="-120"/>
              </a:rPr>
              <a:t>Filterable by subscription status, gender, category, and shipping type — built for a business stakeholder to self-serve the same insights shown in this deck.</a:t>
            </a:r>
            <a:endParaRPr lang="en-US" sz="1250" dirty="0"/>
          </a:p>
        </p:txBody>
      </p:sp>
      <p:sp>
        <p:nvSpPr>
          <p:cNvPr id="5" name="Shape 3"/>
          <p:cNvSpPr/>
          <p:nvPr/>
        </p:nvSpPr>
        <p:spPr>
          <a:xfrm>
            <a:off x="1961388" y="1764792"/>
            <a:ext cx="8266176" cy="4590748"/>
          </a:xfrm>
          <a:prstGeom prst="roundRect">
            <a:avLst>
              <a:gd name="adj" fmla="val 1593"/>
            </a:avLst>
          </a:prstGeom>
          <a:solidFill>
            <a:srgbClr val="FFFFFF"/>
          </a:solidFill>
          <a:ln/>
          <a:effectLst>
            <a:outerShdw blurRad="228600" dist="76200" dir="5400000" algn="bl" rotWithShape="0">
              <a:srgbClr val="000000">
                <a:alpha val="35000"/>
              </a:srgbClr>
            </a:outerShdw>
          </a:effectLst>
        </p:spPr>
        <p:txBody>
          <a:bodyPr/>
          <a:lstStyle/>
          <a:p>
            <a:endParaRPr lang="en-US"/>
          </a:p>
        </p:txBody>
      </p:sp>
      <p:pic>
        <p:nvPicPr>
          <p:cNvPr id="6" name="Image 0" descr="img-012.png"/>
          <p:cNvPicPr>
            <a:picLocks noChangeAspect="1"/>
          </p:cNvPicPr>
          <p:nvPr/>
        </p:nvPicPr>
        <p:blipFill>
          <a:blip r:embed="rId3"/>
          <a:stretch>
            <a:fillRect/>
          </a:stretch>
        </p:blipFill>
        <p:spPr>
          <a:xfrm>
            <a:off x="2071116" y="1874520"/>
            <a:ext cx="8046720" cy="4371292"/>
          </a:xfrm>
          <a:prstGeom prst="rect">
            <a:avLst/>
          </a:prstGeom>
        </p:spPr>
      </p:pic>
      <p:sp>
        <p:nvSpPr>
          <p:cNvPr id="7" name="Text 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FROM INSIGHT TO ACTION</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000" b="1" dirty="0">
                <a:solidFill>
                  <a:srgbClr val="23253B"/>
                </a:solidFill>
                <a:latin typeface="Cambria" pitchFamily="34" charset="0"/>
                <a:ea typeface="Cambria" pitchFamily="34" charset="-122"/>
                <a:cs typeface="Cambria" pitchFamily="34" charset="-120"/>
              </a:rPr>
              <a:t>Business recommendations</a:t>
            </a:r>
            <a:endParaRPr lang="en-US" sz="3000" dirty="0"/>
          </a:p>
        </p:txBody>
      </p:sp>
      <p:sp>
        <p:nvSpPr>
          <p:cNvPr id="4" name="Shape 2"/>
          <p:cNvSpPr/>
          <p:nvPr/>
        </p:nvSpPr>
        <p:spPr>
          <a:xfrm>
            <a:off x="630936" y="1664208"/>
            <a:ext cx="566928" cy="566928"/>
          </a:xfrm>
          <a:prstGeom prst="ellipse">
            <a:avLst/>
          </a:prstGeom>
          <a:solidFill>
            <a:srgbClr val="2F3C7E"/>
          </a:solidFill>
          <a:ln/>
        </p:spPr>
        <p:txBody>
          <a:bodyPr/>
          <a:lstStyle/>
          <a:p>
            <a:endParaRPr lang="en-US"/>
          </a:p>
        </p:txBody>
      </p:sp>
      <p:pic>
        <p:nvPicPr>
          <p:cNvPr id="5" name="Image 0" descr="icons_userplus.png"/>
          <p:cNvPicPr>
            <a:picLocks noChangeAspect="1"/>
          </p:cNvPicPr>
          <p:nvPr/>
        </p:nvPicPr>
        <p:blipFill>
          <a:blip r:embed="rId3"/>
          <a:stretch>
            <a:fillRect/>
          </a:stretch>
        </p:blipFill>
        <p:spPr>
          <a:xfrm>
            <a:off x="772668" y="1805940"/>
            <a:ext cx="283464" cy="283464"/>
          </a:xfrm>
          <a:prstGeom prst="rect">
            <a:avLst/>
          </a:prstGeom>
        </p:spPr>
      </p:pic>
      <p:sp>
        <p:nvSpPr>
          <p:cNvPr id="6" name="Text 3"/>
          <p:cNvSpPr/>
          <p:nvPr/>
        </p:nvSpPr>
        <p:spPr>
          <a:xfrm>
            <a:off x="1417320" y="1600200"/>
            <a:ext cx="2834640" cy="731520"/>
          </a:xfrm>
          <a:prstGeom prst="rect">
            <a:avLst/>
          </a:prstGeom>
          <a:noFill/>
          <a:ln/>
        </p:spPr>
        <p:txBody>
          <a:bodyPr wrap="square" rtlCol="0" anchor="ctr"/>
          <a:lstStyle/>
          <a:p>
            <a:pPr marL="0" indent="0">
              <a:buNone/>
            </a:pPr>
            <a:r>
              <a:rPr lang="en-US" sz="1300" b="1" dirty="0">
                <a:solidFill>
                  <a:srgbClr val="23253B"/>
                </a:solidFill>
                <a:latin typeface="Calibri" pitchFamily="34" charset="0"/>
                <a:ea typeface="Calibri" pitchFamily="34" charset="-122"/>
                <a:cs typeface="Calibri" pitchFamily="34" charset="-120"/>
              </a:rPr>
              <a:t>Boost subscriptions</a:t>
            </a:r>
            <a:endParaRPr lang="en-US" sz="1300" dirty="0"/>
          </a:p>
        </p:txBody>
      </p:sp>
      <p:sp>
        <p:nvSpPr>
          <p:cNvPr id="7" name="Text 4"/>
          <p:cNvSpPr/>
          <p:nvPr/>
        </p:nvSpPr>
        <p:spPr>
          <a:xfrm>
            <a:off x="4434840" y="1600200"/>
            <a:ext cx="7223760" cy="731520"/>
          </a:xfrm>
          <a:prstGeom prst="rect">
            <a:avLst/>
          </a:prstGeom>
          <a:noFill/>
          <a:ln/>
        </p:spPr>
        <p:txBody>
          <a:bodyPr wrap="square" rtlCol="0" anchor="ctr"/>
          <a:lstStyle/>
          <a:p>
            <a:pPr marL="0" indent="0">
              <a:lnSpc>
                <a:spcPct val="120000"/>
              </a:lnSpc>
              <a:buNone/>
            </a:pPr>
            <a:r>
              <a:rPr lang="en-US" sz="1200" dirty="0">
                <a:solidFill>
                  <a:srgbClr val="6B7280"/>
                </a:solidFill>
                <a:latin typeface="Calibri" pitchFamily="34" charset="0"/>
                <a:ea typeface="Calibri" pitchFamily="34" charset="-122"/>
                <a:cs typeface="Calibri" pitchFamily="34" charset="-120"/>
              </a:rPr>
              <a:t>Promote exclusive subscriber benefits — spend per order is already at parity, so growth here is pure incremental volume.</a:t>
            </a:r>
            <a:endParaRPr lang="en-US" sz="1200" dirty="0"/>
          </a:p>
        </p:txBody>
      </p:sp>
      <p:sp>
        <p:nvSpPr>
          <p:cNvPr id="8" name="Shape 5"/>
          <p:cNvSpPr/>
          <p:nvPr/>
        </p:nvSpPr>
        <p:spPr>
          <a:xfrm>
            <a:off x="914400" y="2368296"/>
            <a:ext cx="10744200" cy="0"/>
          </a:xfrm>
          <a:prstGeom prst="line">
            <a:avLst/>
          </a:prstGeom>
          <a:noFill/>
          <a:ln w="12700">
            <a:solidFill>
              <a:srgbClr val="E4E2D8"/>
            </a:solidFill>
            <a:prstDash val="solid"/>
          </a:ln>
        </p:spPr>
        <p:txBody>
          <a:bodyPr/>
          <a:lstStyle/>
          <a:p>
            <a:endParaRPr lang="en-US"/>
          </a:p>
        </p:txBody>
      </p:sp>
      <p:sp>
        <p:nvSpPr>
          <p:cNvPr id="9" name="Shape 6"/>
          <p:cNvSpPr/>
          <p:nvPr/>
        </p:nvSpPr>
        <p:spPr>
          <a:xfrm>
            <a:off x="630936" y="2560320"/>
            <a:ext cx="566928" cy="566928"/>
          </a:xfrm>
          <a:prstGeom prst="ellipse">
            <a:avLst/>
          </a:prstGeom>
          <a:solidFill>
            <a:srgbClr val="F96167"/>
          </a:solidFill>
          <a:ln/>
        </p:spPr>
        <p:txBody>
          <a:bodyPr/>
          <a:lstStyle/>
          <a:p>
            <a:endParaRPr lang="en-US"/>
          </a:p>
        </p:txBody>
      </p:sp>
      <p:pic>
        <p:nvPicPr>
          <p:cNvPr id="10" name="Image 1" descr="icons_heart.png"/>
          <p:cNvPicPr>
            <a:picLocks noChangeAspect="1"/>
          </p:cNvPicPr>
          <p:nvPr/>
        </p:nvPicPr>
        <p:blipFill>
          <a:blip r:embed="rId4"/>
          <a:stretch>
            <a:fillRect/>
          </a:stretch>
        </p:blipFill>
        <p:spPr>
          <a:xfrm>
            <a:off x="772668" y="2702052"/>
            <a:ext cx="283464" cy="283464"/>
          </a:xfrm>
          <a:prstGeom prst="rect">
            <a:avLst/>
          </a:prstGeom>
        </p:spPr>
      </p:pic>
      <p:sp>
        <p:nvSpPr>
          <p:cNvPr id="11" name="Text 7"/>
          <p:cNvSpPr/>
          <p:nvPr/>
        </p:nvSpPr>
        <p:spPr>
          <a:xfrm>
            <a:off x="1417320" y="2496312"/>
            <a:ext cx="2834640" cy="731520"/>
          </a:xfrm>
          <a:prstGeom prst="rect">
            <a:avLst/>
          </a:prstGeom>
          <a:noFill/>
          <a:ln/>
        </p:spPr>
        <p:txBody>
          <a:bodyPr wrap="square" rtlCol="0" anchor="ctr"/>
          <a:lstStyle/>
          <a:p>
            <a:pPr marL="0" indent="0">
              <a:buNone/>
            </a:pPr>
            <a:r>
              <a:rPr lang="en-US" sz="1300" b="1" dirty="0">
                <a:solidFill>
                  <a:srgbClr val="23253B"/>
                </a:solidFill>
                <a:latin typeface="Calibri" pitchFamily="34" charset="0"/>
                <a:ea typeface="Calibri" pitchFamily="34" charset="-122"/>
                <a:cs typeface="Calibri" pitchFamily="34" charset="-120"/>
              </a:rPr>
              <a:t>Build loyalty programs</a:t>
            </a:r>
            <a:endParaRPr lang="en-US" sz="1300" dirty="0"/>
          </a:p>
        </p:txBody>
      </p:sp>
      <p:sp>
        <p:nvSpPr>
          <p:cNvPr id="12" name="Text 8"/>
          <p:cNvSpPr/>
          <p:nvPr/>
        </p:nvSpPr>
        <p:spPr>
          <a:xfrm>
            <a:off x="4434840" y="2496312"/>
            <a:ext cx="7223760" cy="731520"/>
          </a:xfrm>
          <a:prstGeom prst="rect">
            <a:avLst/>
          </a:prstGeom>
          <a:noFill/>
          <a:ln/>
        </p:spPr>
        <p:txBody>
          <a:bodyPr wrap="square" rtlCol="0" anchor="ctr"/>
          <a:lstStyle/>
          <a:p>
            <a:pPr marL="0" indent="0">
              <a:lnSpc>
                <a:spcPct val="120000"/>
              </a:lnSpc>
              <a:buNone/>
            </a:pPr>
            <a:r>
              <a:rPr lang="en-US" sz="1200" dirty="0">
                <a:solidFill>
                  <a:srgbClr val="6B7280"/>
                </a:solidFill>
                <a:latin typeface="Calibri" pitchFamily="34" charset="0"/>
                <a:ea typeface="Calibri" pitchFamily="34" charset="-122"/>
                <a:cs typeface="Calibri" pitchFamily="34" charset="-120"/>
              </a:rPr>
              <a:t>Create structured incentives to convert the 701 “Returning” customers into the “Loyal” segment.</a:t>
            </a:r>
            <a:endParaRPr lang="en-US" sz="1200" dirty="0"/>
          </a:p>
        </p:txBody>
      </p:sp>
      <p:sp>
        <p:nvSpPr>
          <p:cNvPr id="13" name="Shape 9"/>
          <p:cNvSpPr/>
          <p:nvPr/>
        </p:nvSpPr>
        <p:spPr>
          <a:xfrm>
            <a:off x="914400" y="3264408"/>
            <a:ext cx="10744200" cy="0"/>
          </a:xfrm>
          <a:prstGeom prst="line">
            <a:avLst/>
          </a:prstGeom>
          <a:noFill/>
          <a:ln w="12700">
            <a:solidFill>
              <a:srgbClr val="E4E2D8"/>
            </a:solidFill>
            <a:prstDash val="solid"/>
          </a:ln>
        </p:spPr>
        <p:txBody>
          <a:bodyPr/>
          <a:lstStyle/>
          <a:p>
            <a:endParaRPr lang="en-US"/>
          </a:p>
        </p:txBody>
      </p:sp>
      <p:sp>
        <p:nvSpPr>
          <p:cNvPr id="14" name="Shape 10"/>
          <p:cNvSpPr/>
          <p:nvPr/>
        </p:nvSpPr>
        <p:spPr>
          <a:xfrm>
            <a:off x="630936" y="3456432"/>
            <a:ext cx="566928" cy="566928"/>
          </a:xfrm>
          <a:prstGeom prst="ellipse">
            <a:avLst/>
          </a:prstGeom>
          <a:solidFill>
            <a:srgbClr val="2F3C7E"/>
          </a:solidFill>
          <a:ln/>
        </p:spPr>
        <p:txBody>
          <a:bodyPr/>
          <a:lstStyle/>
          <a:p>
            <a:endParaRPr lang="en-US"/>
          </a:p>
        </p:txBody>
      </p:sp>
      <p:pic>
        <p:nvPicPr>
          <p:cNvPr id="15" name="Image 2" descr="icons_percent.png"/>
          <p:cNvPicPr>
            <a:picLocks noChangeAspect="1"/>
          </p:cNvPicPr>
          <p:nvPr/>
        </p:nvPicPr>
        <p:blipFill>
          <a:blip r:embed="rId5"/>
          <a:stretch>
            <a:fillRect/>
          </a:stretch>
        </p:blipFill>
        <p:spPr>
          <a:xfrm>
            <a:off x="772668" y="3598164"/>
            <a:ext cx="283464" cy="283464"/>
          </a:xfrm>
          <a:prstGeom prst="rect">
            <a:avLst/>
          </a:prstGeom>
        </p:spPr>
      </p:pic>
      <p:sp>
        <p:nvSpPr>
          <p:cNvPr id="16" name="Text 11"/>
          <p:cNvSpPr/>
          <p:nvPr/>
        </p:nvSpPr>
        <p:spPr>
          <a:xfrm>
            <a:off x="1417320" y="3392424"/>
            <a:ext cx="2834640" cy="731520"/>
          </a:xfrm>
          <a:prstGeom prst="rect">
            <a:avLst/>
          </a:prstGeom>
          <a:noFill/>
          <a:ln/>
        </p:spPr>
        <p:txBody>
          <a:bodyPr wrap="square" rtlCol="0" anchor="ctr"/>
          <a:lstStyle/>
          <a:p>
            <a:pPr marL="0" indent="0">
              <a:buNone/>
            </a:pPr>
            <a:r>
              <a:rPr lang="en-US" sz="1300" b="1" dirty="0">
                <a:solidFill>
                  <a:srgbClr val="23253B"/>
                </a:solidFill>
                <a:latin typeface="Calibri" pitchFamily="34" charset="0"/>
                <a:ea typeface="Calibri" pitchFamily="34" charset="-122"/>
                <a:cs typeface="Calibri" pitchFamily="34" charset="-120"/>
              </a:rPr>
              <a:t>Review discount policy</a:t>
            </a:r>
            <a:endParaRPr lang="en-US" sz="1300" dirty="0"/>
          </a:p>
        </p:txBody>
      </p:sp>
      <p:sp>
        <p:nvSpPr>
          <p:cNvPr id="17" name="Text 12"/>
          <p:cNvSpPr/>
          <p:nvPr/>
        </p:nvSpPr>
        <p:spPr>
          <a:xfrm>
            <a:off x="4434840" y="3392424"/>
            <a:ext cx="7223760" cy="731520"/>
          </a:xfrm>
          <a:prstGeom prst="rect">
            <a:avLst/>
          </a:prstGeom>
          <a:noFill/>
          <a:ln/>
        </p:spPr>
        <p:txBody>
          <a:bodyPr wrap="square" rtlCol="0" anchor="ctr"/>
          <a:lstStyle/>
          <a:p>
            <a:pPr marL="0" indent="0">
              <a:lnSpc>
                <a:spcPct val="120000"/>
              </a:lnSpc>
              <a:buNone/>
            </a:pPr>
            <a:r>
              <a:rPr lang="en-US" sz="1200" dirty="0">
                <a:solidFill>
                  <a:srgbClr val="6B7280"/>
                </a:solidFill>
                <a:latin typeface="Calibri" pitchFamily="34" charset="0"/>
                <a:ea typeface="Calibri" pitchFamily="34" charset="-122"/>
                <a:cs typeface="Calibri" pitchFamily="34" charset="-120"/>
              </a:rPr>
              <a:t>Re-price high discount-dependency items like Hat, Sneakers, and Coat to protect margin.</a:t>
            </a:r>
            <a:endParaRPr lang="en-US" sz="1200" dirty="0"/>
          </a:p>
        </p:txBody>
      </p:sp>
      <p:sp>
        <p:nvSpPr>
          <p:cNvPr id="18" name="Shape 13"/>
          <p:cNvSpPr/>
          <p:nvPr/>
        </p:nvSpPr>
        <p:spPr>
          <a:xfrm>
            <a:off x="914400" y="4160520"/>
            <a:ext cx="10744200" cy="0"/>
          </a:xfrm>
          <a:prstGeom prst="line">
            <a:avLst/>
          </a:prstGeom>
          <a:noFill/>
          <a:ln w="12700">
            <a:solidFill>
              <a:srgbClr val="E4E2D8"/>
            </a:solidFill>
            <a:prstDash val="solid"/>
          </a:ln>
        </p:spPr>
        <p:txBody>
          <a:bodyPr/>
          <a:lstStyle/>
          <a:p>
            <a:endParaRPr lang="en-US"/>
          </a:p>
        </p:txBody>
      </p:sp>
      <p:sp>
        <p:nvSpPr>
          <p:cNvPr id="19" name="Shape 14"/>
          <p:cNvSpPr/>
          <p:nvPr/>
        </p:nvSpPr>
        <p:spPr>
          <a:xfrm>
            <a:off x="630936" y="4352544"/>
            <a:ext cx="566928" cy="566928"/>
          </a:xfrm>
          <a:prstGeom prst="ellipse">
            <a:avLst/>
          </a:prstGeom>
          <a:solidFill>
            <a:srgbClr val="F96167"/>
          </a:solidFill>
          <a:ln/>
        </p:spPr>
        <p:txBody>
          <a:bodyPr/>
          <a:lstStyle/>
          <a:p>
            <a:endParaRPr lang="en-US"/>
          </a:p>
        </p:txBody>
      </p:sp>
      <p:pic>
        <p:nvPicPr>
          <p:cNvPr id="20" name="Image 3" descr="icons_star.png"/>
          <p:cNvPicPr>
            <a:picLocks noChangeAspect="1"/>
          </p:cNvPicPr>
          <p:nvPr/>
        </p:nvPicPr>
        <p:blipFill>
          <a:blip r:embed="rId6"/>
          <a:stretch>
            <a:fillRect/>
          </a:stretch>
        </p:blipFill>
        <p:spPr>
          <a:xfrm>
            <a:off x="772668" y="4494276"/>
            <a:ext cx="283464" cy="283464"/>
          </a:xfrm>
          <a:prstGeom prst="rect">
            <a:avLst/>
          </a:prstGeom>
        </p:spPr>
      </p:pic>
      <p:sp>
        <p:nvSpPr>
          <p:cNvPr id="21" name="Text 15"/>
          <p:cNvSpPr/>
          <p:nvPr/>
        </p:nvSpPr>
        <p:spPr>
          <a:xfrm>
            <a:off x="1417320" y="4288536"/>
            <a:ext cx="2834640" cy="731520"/>
          </a:xfrm>
          <a:prstGeom prst="rect">
            <a:avLst/>
          </a:prstGeom>
          <a:noFill/>
          <a:ln/>
        </p:spPr>
        <p:txBody>
          <a:bodyPr wrap="square" rtlCol="0" anchor="ctr"/>
          <a:lstStyle/>
          <a:p>
            <a:pPr marL="0" indent="0">
              <a:buNone/>
            </a:pPr>
            <a:r>
              <a:rPr lang="en-US" sz="1300" b="1" dirty="0">
                <a:solidFill>
                  <a:srgbClr val="23253B"/>
                </a:solidFill>
                <a:latin typeface="Calibri" pitchFamily="34" charset="0"/>
                <a:ea typeface="Calibri" pitchFamily="34" charset="-122"/>
                <a:cs typeface="Calibri" pitchFamily="34" charset="-120"/>
              </a:rPr>
              <a:t>Sharpen product positioning</a:t>
            </a:r>
            <a:endParaRPr lang="en-US" sz="1300" dirty="0"/>
          </a:p>
        </p:txBody>
      </p:sp>
      <p:sp>
        <p:nvSpPr>
          <p:cNvPr id="22" name="Text 16"/>
          <p:cNvSpPr/>
          <p:nvPr/>
        </p:nvSpPr>
        <p:spPr>
          <a:xfrm>
            <a:off x="4434840" y="4288536"/>
            <a:ext cx="7223760" cy="731520"/>
          </a:xfrm>
          <a:prstGeom prst="rect">
            <a:avLst/>
          </a:prstGeom>
          <a:noFill/>
          <a:ln/>
        </p:spPr>
        <p:txBody>
          <a:bodyPr wrap="square" rtlCol="0" anchor="ctr"/>
          <a:lstStyle/>
          <a:p>
            <a:pPr marL="0" indent="0">
              <a:lnSpc>
                <a:spcPct val="120000"/>
              </a:lnSpc>
              <a:buNone/>
            </a:pPr>
            <a:r>
              <a:rPr lang="en-US" sz="1200" dirty="0">
                <a:solidFill>
                  <a:srgbClr val="6B7280"/>
                </a:solidFill>
                <a:latin typeface="Calibri" pitchFamily="34" charset="0"/>
                <a:ea typeface="Calibri" pitchFamily="34" charset="-122"/>
                <a:cs typeface="Calibri" pitchFamily="34" charset="-120"/>
              </a:rPr>
              <a:t>Feature top-rated items — Gloves, Sandals, Boots — in campaigns and homepage placements.</a:t>
            </a:r>
            <a:endParaRPr lang="en-US" sz="1200" dirty="0"/>
          </a:p>
        </p:txBody>
      </p:sp>
      <p:sp>
        <p:nvSpPr>
          <p:cNvPr id="23" name="Shape 17"/>
          <p:cNvSpPr/>
          <p:nvPr/>
        </p:nvSpPr>
        <p:spPr>
          <a:xfrm>
            <a:off x="914400" y="5056632"/>
            <a:ext cx="10744200" cy="0"/>
          </a:xfrm>
          <a:prstGeom prst="line">
            <a:avLst/>
          </a:prstGeom>
          <a:noFill/>
          <a:ln w="12700">
            <a:solidFill>
              <a:srgbClr val="E4E2D8"/>
            </a:solidFill>
            <a:prstDash val="solid"/>
          </a:ln>
        </p:spPr>
        <p:txBody>
          <a:bodyPr/>
          <a:lstStyle/>
          <a:p>
            <a:endParaRPr lang="en-US"/>
          </a:p>
        </p:txBody>
      </p:sp>
      <p:sp>
        <p:nvSpPr>
          <p:cNvPr id="24" name="Shape 18"/>
          <p:cNvSpPr/>
          <p:nvPr/>
        </p:nvSpPr>
        <p:spPr>
          <a:xfrm>
            <a:off x="630936" y="5248656"/>
            <a:ext cx="566928" cy="566928"/>
          </a:xfrm>
          <a:prstGeom prst="ellipse">
            <a:avLst/>
          </a:prstGeom>
          <a:solidFill>
            <a:srgbClr val="2F3C7E"/>
          </a:solidFill>
          <a:ln/>
        </p:spPr>
        <p:txBody>
          <a:bodyPr/>
          <a:lstStyle/>
          <a:p>
            <a:endParaRPr lang="en-US"/>
          </a:p>
        </p:txBody>
      </p:sp>
      <p:pic>
        <p:nvPicPr>
          <p:cNvPr id="25" name="Image 4" descr="icons_bullseye.png"/>
          <p:cNvPicPr>
            <a:picLocks noChangeAspect="1"/>
          </p:cNvPicPr>
          <p:nvPr/>
        </p:nvPicPr>
        <p:blipFill>
          <a:blip r:embed="rId7"/>
          <a:stretch>
            <a:fillRect/>
          </a:stretch>
        </p:blipFill>
        <p:spPr>
          <a:xfrm>
            <a:off x="772668" y="5390388"/>
            <a:ext cx="283464" cy="283464"/>
          </a:xfrm>
          <a:prstGeom prst="rect">
            <a:avLst/>
          </a:prstGeom>
        </p:spPr>
      </p:pic>
      <p:sp>
        <p:nvSpPr>
          <p:cNvPr id="26" name="Text 19"/>
          <p:cNvSpPr/>
          <p:nvPr/>
        </p:nvSpPr>
        <p:spPr>
          <a:xfrm>
            <a:off x="1417320" y="5184648"/>
            <a:ext cx="2834640" cy="731520"/>
          </a:xfrm>
          <a:prstGeom prst="rect">
            <a:avLst/>
          </a:prstGeom>
          <a:noFill/>
          <a:ln/>
        </p:spPr>
        <p:txBody>
          <a:bodyPr wrap="square" rtlCol="0" anchor="ctr"/>
          <a:lstStyle/>
          <a:p>
            <a:pPr marL="0" indent="0">
              <a:buNone/>
            </a:pPr>
            <a:r>
              <a:rPr lang="en-US" sz="1300" b="1" dirty="0">
                <a:solidFill>
                  <a:srgbClr val="23253B"/>
                </a:solidFill>
                <a:latin typeface="Calibri" pitchFamily="34" charset="0"/>
                <a:ea typeface="Calibri" pitchFamily="34" charset="-122"/>
                <a:cs typeface="Calibri" pitchFamily="34" charset="-120"/>
              </a:rPr>
              <a:t>Target high-value segments</a:t>
            </a:r>
            <a:endParaRPr lang="en-US" sz="1300" dirty="0"/>
          </a:p>
        </p:txBody>
      </p:sp>
      <p:sp>
        <p:nvSpPr>
          <p:cNvPr id="27" name="Text 20"/>
          <p:cNvSpPr/>
          <p:nvPr/>
        </p:nvSpPr>
        <p:spPr>
          <a:xfrm>
            <a:off x="4434840" y="5184648"/>
            <a:ext cx="7223760" cy="731520"/>
          </a:xfrm>
          <a:prstGeom prst="rect">
            <a:avLst/>
          </a:prstGeom>
          <a:noFill/>
          <a:ln/>
        </p:spPr>
        <p:txBody>
          <a:bodyPr wrap="square" rtlCol="0" anchor="ctr"/>
          <a:lstStyle/>
          <a:p>
            <a:pPr marL="0" indent="0">
              <a:lnSpc>
                <a:spcPct val="120000"/>
              </a:lnSpc>
              <a:buNone/>
            </a:pPr>
            <a:r>
              <a:rPr lang="en-US" sz="1200" dirty="0">
                <a:solidFill>
                  <a:srgbClr val="6B7280"/>
                </a:solidFill>
                <a:latin typeface="Calibri" pitchFamily="34" charset="0"/>
                <a:ea typeface="Calibri" pitchFamily="34" charset="-122"/>
                <a:cs typeface="Calibri" pitchFamily="34" charset="-120"/>
              </a:rPr>
              <a:t>Prioritize marketing spend on male shoppers, Young Adults, and Express-shipping customers.</a:t>
            </a:r>
            <a:endParaRPr lang="en-US" sz="1200" dirty="0"/>
          </a:p>
        </p:txBody>
      </p:sp>
      <p:sp>
        <p:nvSpPr>
          <p:cNvPr id="28" name="Text 21"/>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F3C7E"/>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754880" cy="4754880"/>
          </a:xfrm>
          <a:prstGeom prst="ellipse">
            <a:avLst/>
          </a:prstGeom>
          <a:solidFill>
            <a:srgbClr val="232B5E"/>
          </a:solidFill>
          <a:ln/>
        </p:spPr>
        <p:txBody>
          <a:bodyPr/>
          <a:lstStyle/>
          <a:p>
            <a:endParaRPr lang="en-US"/>
          </a:p>
        </p:txBody>
      </p:sp>
      <p:sp>
        <p:nvSpPr>
          <p:cNvPr id="3" name="Shape 1"/>
          <p:cNvSpPr/>
          <p:nvPr/>
        </p:nvSpPr>
        <p:spPr>
          <a:xfrm>
            <a:off x="9875520" y="4480560"/>
            <a:ext cx="3840480" cy="3840480"/>
          </a:xfrm>
          <a:prstGeom prst="ellipse">
            <a:avLst/>
          </a:prstGeom>
          <a:solidFill>
            <a:srgbClr val="F96167">
              <a:alpha val="20000"/>
            </a:srgbClr>
          </a:solidFill>
          <a:ln/>
        </p:spPr>
        <p:txBody>
          <a:bodyPr/>
          <a:lstStyle/>
          <a:p>
            <a:endParaRPr lang="en-US"/>
          </a:p>
        </p:txBody>
      </p:sp>
      <p:sp>
        <p:nvSpPr>
          <p:cNvPr id="4" name="Text 2"/>
          <p:cNvSpPr/>
          <p:nvPr/>
        </p:nvSpPr>
        <p:spPr>
          <a:xfrm>
            <a:off x="822960" y="685800"/>
            <a:ext cx="7315200" cy="274320"/>
          </a:xfrm>
          <a:prstGeom prst="rect">
            <a:avLst/>
          </a:prstGeom>
          <a:noFill/>
          <a:ln/>
        </p:spPr>
        <p:txBody>
          <a:bodyPr wrap="square" rtlCol="0" anchor="ctr"/>
          <a:lstStyle/>
          <a:p>
            <a:pPr marL="0" indent="0">
              <a:buNone/>
            </a:pPr>
            <a:r>
              <a:rPr lang="en-US" sz="1200" b="1" kern="0" spc="200" dirty="0">
                <a:solidFill>
                  <a:srgbClr val="F9E795"/>
                </a:solidFill>
                <a:latin typeface="Calibri" pitchFamily="34" charset="0"/>
                <a:ea typeface="Calibri" pitchFamily="34" charset="-122"/>
                <a:cs typeface="Calibri" pitchFamily="34" charset="-120"/>
              </a:rPr>
              <a:t>TOOLS &amp; TECHNIQUES</a:t>
            </a:r>
            <a:endParaRPr lang="en-US" sz="1200" dirty="0"/>
          </a:p>
        </p:txBody>
      </p:sp>
      <p:sp>
        <p:nvSpPr>
          <p:cNvPr id="5" name="Text 3"/>
          <p:cNvSpPr/>
          <p:nvPr/>
        </p:nvSpPr>
        <p:spPr>
          <a:xfrm>
            <a:off x="777240" y="96012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Built with</a:t>
            </a:r>
            <a:endParaRPr lang="en-US" sz="3200" dirty="0"/>
          </a:p>
        </p:txBody>
      </p:sp>
      <p:sp>
        <p:nvSpPr>
          <p:cNvPr id="6" name="Shape 4"/>
          <p:cNvSpPr/>
          <p:nvPr/>
        </p:nvSpPr>
        <p:spPr>
          <a:xfrm>
            <a:off x="845820" y="1988820"/>
            <a:ext cx="685800" cy="685800"/>
          </a:xfrm>
          <a:prstGeom prst="ellipse">
            <a:avLst/>
          </a:prstGeom>
          <a:solidFill>
            <a:srgbClr val="3A4694"/>
          </a:solidFill>
          <a:ln/>
        </p:spPr>
        <p:txBody>
          <a:bodyPr/>
          <a:lstStyle/>
          <a:p>
            <a:endParaRPr lang="en-US"/>
          </a:p>
        </p:txBody>
      </p:sp>
      <p:pic>
        <p:nvPicPr>
          <p:cNvPr id="7" name="Image 0" descr="icons_python.png"/>
          <p:cNvPicPr>
            <a:picLocks noChangeAspect="1"/>
          </p:cNvPicPr>
          <p:nvPr/>
        </p:nvPicPr>
        <p:blipFill>
          <a:blip r:embed="rId3"/>
          <a:stretch>
            <a:fillRect/>
          </a:stretch>
        </p:blipFill>
        <p:spPr>
          <a:xfrm>
            <a:off x="1024128" y="2167128"/>
            <a:ext cx="329184" cy="329184"/>
          </a:xfrm>
          <a:prstGeom prst="rect">
            <a:avLst/>
          </a:prstGeom>
        </p:spPr>
      </p:pic>
      <p:sp>
        <p:nvSpPr>
          <p:cNvPr id="8" name="Text 5"/>
          <p:cNvSpPr/>
          <p:nvPr/>
        </p:nvSpPr>
        <p:spPr>
          <a:xfrm>
            <a:off x="822960" y="2788920"/>
            <a:ext cx="31089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Python</a:t>
            </a:r>
            <a:endParaRPr lang="en-US" sz="1400" dirty="0"/>
          </a:p>
        </p:txBody>
      </p:sp>
      <p:sp>
        <p:nvSpPr>
          <p:cNvPr id="9" name="Text 6"/>
          <p:cNvSpPr/>
          <p:nvPr/>
        </p:nvSpPr>
        <p:spPr>
          <a:xfrm>
            <a:off x="822960" y="3108960"/>
            <a:ext cx="3108960" cy="548640"/>
          </a:xfrm>
          <a:prstGeom prst="rect">
            <a:avLst/>
          </a:prstGeom>
          <a:noFill/>
          <a:ln/>
        </p:spPr>
        <p:txBody>
          <a:bodyPr wrap="square" rtlCol="0" anchor="ctr"/>
          <a:lstStyle/>
          <a:p>
            <a:pPr marL="0" indent="0">
              <a:lnSpc>
                <a:spcPct val="120000"/>
              </a:lnSpc>
              <a:buNone/>
            </a:pPr>
            <a:r>
              <a:rPr lang="en-US" sz="1050" dirty="0">
                <a:solidFill>
                  <a:srgbClr val="9AA3C9"/>
                </a:solidFill>
                <a:latin typeface="Calibri" pitchFamily="34" charset="0"/>
                <a:ea typeface="Calibri" pitchFamily="34" charset="-122"/>
                <a:cs typeface="Calibri" pitchFamily="34" charset="-120"/>
              </a:rPr>
              <a:t>pandas · data cleaning · feature engineering</a:t>
            </a:r>
            <a:endParaRPr lang="en-US" sz="1050" dirty="0"/>
          </a:p>
        </p:txBody>
      </p:sp>
      <p:sp>
        <p:nvSpPr>
          <p:cNvPr id="10" name="Shape 7"/>
          <p:cNvSpPr/>
          <p:nvPr/>
        </p:nvSpPr>
        <p:spPr>
          <a:xfrm>
            <a:off x="4366260" y="1988820"/>
            <a:ext cx="685800" cy="685800"/>
          </a:xfrm>
          <a:prstGeom prst="ellipse">
            <a:avLst/>
          </a:prstGeom>
          <a:solidFill>
            <a:srgbClr val="3A4694"/>
          </a:solidFill>
          <a:ln/>
        </p:spPr>
        <p:txBody>
          <a:bodyPr/>
          <a:lstStyle/>
          <a:p>
            <a:endParaRPr lang="en-US"/>
          </a:p>
        </p:txBody>
      </p:sp>
      <p:pic>
        <p:nvPicPr>
          <p:cNvPr id="11" name="Image 1" descr="icons_database.png"/>
          <p:cNvPicPr>
            <a:picLocks noChangeAspect="1"/>
          </p:cNvPicPr>
          <p:nvPr/>
        </p:nvPicPr>
        <p:blipFill>
          <a:blip r:embed="rId4"/>
          <a:stretch>
            <a:fillRect/>
          </a:stretch>
        </p:blipFill>
        <p:spPr>
          <a:xfrm>
            <a:off x="4544568" y="2167128"/>
            <a:ext cx="329184" cy="329184"/>
          </a:xfrm>
          <a:prstGeom prst="rect">
            <a:avLst/>
          </a:prstGeom>
        </p:spPr>
      </p:pic>
      <p:sp>
        <p:nvSpPr>
          <p:cNvPr id="12" name="Text 8"/>
          <p:cNvSpPr/>
          <p:nvPr/>
        </p:nvSpPr>
        <p:spPr>
          <a:xfrm>
            <a:off x="4343400" y="2788920"/>
            <a:ext cx="31089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PostgreSQL</a:t>
            </a:r>
            <a:endParaRPr lang="en-US" sz="1400" dirty="0"/>
          </a:p>
        </p:txBody>
      </p:sp>
      <p:sp>
        <p:nvSpPr>
          <p:cNvPr id="13" name="Text 9"/>
          <p:cNvSpPr/>
          <p:nvPr/>
        </p:nvSpPr>
        <p:spPr>
          <a:xfrm>
            <a:off x="4343400" y="3108960"/>
            <a:ext cx="3108960" cy="548640"/>
          </a:xfrm>
          <a:prstGeom prst="rect">
            <a:avLst/>
          </a:prstGeom>
          <a:noFill/>
          <a:ln/>
        </p:spPr>
        <p:txBody>
          <a:bodyPr wrap="square" rtlCol="0" anchor="ctr"/>
          <a:lstStyle/>
          <a:p>
            <a:pPr marL="0" indent="0">
              <a:lnSpc>
                <a:spcPct val="120000"/>
              </a:lnSpc>
              <a:buNone/>
            </a:pPr>
            <a:r>
              <a:rPr lang="en-US" sz="1050" dirty="0">
                <a:solidFill>
                  <a:srgbClr val="9AA3C9"/>
                </a:solidFill>
                <a:latin typeface="Calibri" pitchFamily="34" charset="0"/>
                <a:ea typeface="Calibri" pitchFamily="34" charset="-122"/>
                <a:cs typeface="Calibri" pitchFamily="34" charset="-120"/>
              </a:rPr>
              <a:t>SQL joins, aggregation, and segmentation queries</a:t>
            </a:r>
            <a:endParaRPr lang="en-US" sz="1050" dirty="0"/>
          </a:p>
        </p:txBody>
      </p:sp>
      <p:sp>
        <p:nvSpPr>
          <p:cNvPr id="14" name="Shape 10"/>
          <p:cNvSpPr/>
          <p:nvPr/>
        </p:nvSpPr>
        <p:spPr>
          <a:xfrm>
            <a:off x="7886700" y="1988820"/>
            <a:ext cx="685800" cy="685800"/>
          </a:xfrm>
          <a:prstGeom prst="ellipse">
            <a:avLst/>
          </a:prstGeom>
          <a:solidFill>
            <a:srgbClr val="3A4694"/>
          </a:solidFill>
          <a:ln/>
        </p:spPr>
        <p:txBody>
          <a:bodyPr/>
          <a:lstStyle/>
          <a:p>
            <a:endParaRPr lang="en-US"/>
          </a:p>
        </p:txBody>
      </p:sp>
      <p:pic>
        <p:nvPicPr>
          <p:cNvPr id="15" name="Image 2" descr="icons_chartpie.png"/>
          <p:cNvPicPr>
            <a:picLocks noChangeAspect="1"/>
          </p:cNvPicPr>
          <p:nvPr/>
        </p:nvPicPr>
        <p:blipFill>
          <a:blip r:embed="rId5"/>
          <a:stretch>
            <a:fillRect/>
          </a:stretch>
        </p:blipFill>
        <p:spPr>
          <a:xfrm>
            <a:off x="8065008" y="2167128"/>
            <a:ext cx="329184" cy="329184"/>
          </a:xfrm>
          <a:prstGeom prst="rect">
            <a:avLst/>
          </a:prstGeom>
        </p:spPr>
      </p:pic>
      <p:sp>
        <p:nvSpPr>
          <p:cNvPr id="16" name="Text 11"/>
          <p:cNvSpPr/>
          <p:nvPr/>
        </p:nvSpPr>
        <p:spPr>
          <a:xfrm>
            <a:off x="7863840" y="2788920"/>
            <a:ext cx="31089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Power BI</a:t>
            </a:r>
            <a:endParaRPr lang="en-US" sz="1400" dirty="0"/>
          </a:p>
        </p:txBody>
      </p:sp>
      <p:sp>
        <p:nvSpPr>
          <p:cNvPr id="17" name="Text 12"/>
          <p:cNvSpPr/>
          <p:nvPr/>
        </p:nvSpPr>
        <p:spPr>
          <a:xfrm>
            <a:off x="7863840" y="3108960"/>
            <a:ext cx="3108960" cy="548640"/>
          </a:xfrm>
          <a:prstGeom prst="rect">
            <a:avLst/>
          </a:prstGeom>
          <a:noFill/>
          <a:ln/>
        </p:spPr>
        <p:txBody>
          <a:bodyPr wrap="square" rtlCol="0" anchor="ctr"/>
          <a:lstStyle/>
          <a:p>
            <a:pPr marL="0" indent="0">
              <a:lnSpc>
                <a:spcPct val="120000"/>
              </a:lnSpc>
              <a:buNone/>
            </a:pPr>
            <a:r>
              <a:rPr lang="en-US" sz="1050" dirty="0">
                <a:solidFill>
                  <a:srgbClr val="9AA3C9"/>
                </a:solidFill>
                <a:latin typeface="Calibri" pitchFamily="34" charset="0"/>
                <a:ea typeface="Calibri" pitchFamily="34" charset="-122"/>
                <a:cs typeface="Calibri" pitchFamily="34" charset="-120"/>
              </a:rPr>
              <a:t>interactive, filterable executive dashboard</a:t>
            </a:r>
            <a:endParaRPr lang="en-US" sz="1050" dirty="0"/>
          </a:p>
        </p:txBody>
      </p:sp>
      <p:sp>
        <p:nvSpPr>
          <p:cNvPr id="18" name="Shape 13"/>
          <p:cNvSpPr/>
          <p:nvPr/>
        </p:nvSpPr>
        <p:spPr>
          <a:xfrm>
            <a:off x="822960" y="4160520"/>
            <a:ext cx="10515600" cy="0"/>
          </a:xfrm>
          <a:prstGeom prst="line">
            <a:avLst/>
          </a:prstGeom>
          <a:noFill/>
          <a:ln w="12700">
            <a:solidFill>
              <a:srgbClr val="3A4694"/>
            </a:solidFill>
            <a:prstDash val="solid"/>
          </a:ln>
        </p:spPr>
        <p:txBody>
          <a:bodyPr/>
          <a:lstStyle/>
          <a:p>
            <a:endParaRPr lang="en-US"/>
          </a:p>
        </p:txBody>
      </p:sp>
      <p:sp>
        <p:nvSpPr>
          <p:cNvPr id="19" name="Text 14"/>
          <p:cNvSpPr/>
          <p:nvPr/>
        </p:nvSpPr>
        <p:spPr>
          <a:xfrm>
            <a:off x="777240" y="4434840"/>
            <a:ext cx="7315200" cy="59436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20" name="Text 15"/>
          <p:cNvSpPr/>
          <p:nvPr/>
        </p:nvSpPr>
        <p:spPr>
          <a:xfrm>
            <a:off x="822960" y="5029200"/>
            <a:ext cx="7772400" cy="365760"/>
          </a:xfrm>
          <a:prstGeom prst="rect">
            <a:avLst/>
          </a:prstGeom>
          <a:noFill/>
          <a:ln/>
        </p:spPr>
        <p:txBody>
          <a:bodyPr wrap="square" rtlCol="0" anchor="ctr"/>
          <a:lstStyle/>
          <a:p>
            <a:pPr marL="0" indent="0">
              <a:buNone/>
            </a:pPr>
            <a:r>
              <a:rPr lang="en-US" sz="1250" dirty="0">
                <a:solidFill>
                  <a:srgbClr val="C7CCE8"/>
                </a:solidFill>
                <a:latin typeface="Calibri" pitchFamily="34" charset="0"/>
                <a:ea typeface="Calibri" pitchFamily="34" charset="-122"/>
                <a:cs typeface="Calibri" pitchFamily="34" charset="-120"/>
              </a:rPr>
              <a:t>Full write-up, SQL queries, and the Power BI file are available on request.</a:t>
            </a:r>
            <a:endParaRPr lang="en-US" sz="1250" dirty="0"/>
          </a:p>
        </p:txBody>
      </p:sp>
      <p:sp>
        <p:nvSpPr>
          <p:cNvPr id="22" name="Text 16"/>
          <p:cNvSpPr/>
          <p:nvPr/>
        </p:nvSpPr>
        <p:spPr>
          <a:xfrm>
            <a:off x="1143000" y="5568696"/>
            <a:ext cx="3657600" cy="329184"/>
          </a:xfrm>
          <a:prstGeom prst="rect">
            <a:avLst/>
          </a:prstGeom>
          <a:noFill/>
          <a:ln/>
        </p:spPr>
        <p:txBody>
          <a:bodyPr wrap="square" rtlCol="0" anchor="ctr"/>
          <a:lstStyle/>
          <a:p>
            <a:pPr marL="0" indent="0">
              <a:buNone/>
            </a:pPr>
            <a:br>
              <a:rPr lang="en-US" sz="1200" dirty="0"/>
            </a:br>
            <a:br>
              <a:rPr lang="en-US" sz="1200" dirty="0"/>
            </a:br>
            <a:br>
              <a:rPr lang="en-US" sz="1200" dirty="0"/>
            </a:br>
            <a:br>
              <a:rPr lang="en-US" sz="1200" dirty="0"/>
            </a:br>
            <a:endParaRPr lang="en-US" sz="1200" dirty="0"/>
          </a:p>
        </p:txBody>
      </p:sp>
      <p:sp>
        <p:nvSpPr>
          <p:cNvPr id="24" name="Text 17"/>
          <p:cNvSpPr/>
          <p:nvPr/>
        </p:nvSpPr>
        <p:spPr>
          <a:xfrm>
            <a:off x="1143000" y="5916168"/>
            <a:ext cx="3657600" cy="329184"/>
          </a:xfrm>
          <a:prstGeom prst="rect">
            <a:avLst/>
          </a:prstGeom>
          <a:noFill/>
          <a:ln/>
        </p:spPr>
        <p:txBody>
          <a:bodyPr wrap="square" rtlCol="0" anchor="ctr"/>
          <a:lstStyle/>
          <a:p>
            <a:pPr marL="0" indent="0">
              <a:buNone/>
            </a:pPr>
            <a:endParaRPr lang="en-US" sz="1200" dirty="0"/>
          </a:p>
        </p:txBody>
      </p:sp>
      <p:sp>
        <p:nvSpPr>
          <p:cNvPr id="26" name="Text 18"/>
          <p:cNvSpPr/>
          <p:nvPr/>
        </p:nvSpPr>
        <p:spPr>
          <a:xfrm>
            <a:off x="1143000" y="6263640"/>
            <a:ext cx="3657600" cy="329184"/>
          </a:xfrm>
          <a:prstGeom prst="rect">
            <a:avLst/>
          </a:prstGeom>
          <a:noFill/>
          <a:ln/>
        </p:spPr>
        <p:txBody>
          <a:bodyPr wrap="square" rtlCol="0" anchor="ctr"/>
          <a:lstStyle/>
          <a:p>
            <a:pPr marL="0" indent="0">
              <a:buNone/>
            </a:pPr>
            <a:endParaRPr lang="en-US" sz="1200" dirty="0"/>
          </a:p>
        </p:txBody>
      </p:sp>
      <p:sp>
        <p:nvSpPr>
          <p:cNvPr id="27" name="Text 19"/>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784</Words>
  <Application>Microsoft Office PowerPoint</Application>
  <PresentationFormat>Widescreen</PresentationFormat>
  <Paragraphs>133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Vishal Sang</cp:lastModifiedBy>
  <cp:revision>2</cp:revision>
  <dcterms:created xsi:type="dcterms:W3CDTF">2026-08-11T08:55:47Z</dcterms:created>
  <dcterms:modified xsi:type="dcterms:W3CDTF">2026-08-11T08:59:19Z</dcterms:modified>
</cp:coreProperties>
</file>